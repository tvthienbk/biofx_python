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E9A23B"/>
                </a:solidFill>
                <a:latin typeface="Calibri"/>
              </a:rPr>
              <a:t>CAUSAL INFERENCE IN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86000"/>
            <a:ext cx="109728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2000" b="1" i="0">
                <a:solidFill>
                  <a:srgbClr val="5B9BD5"/>
                </a:solidFill>
                <a:latin typeface="Calibri"/>
              </a:rPr>
              <a:t>Block III — Quasi-experimental designs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4600" b="1" i="0">
                <a:solidFill>
                  <a:srgbClr val="FFFFFF"/>
                </a:solidFill>
                <a:latin typeface="Calibri"/>
              </a:rPr>
              <a:t>Difference-in-Differences &amp; Panel Methods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29768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1">
                <a:solidFill>
                  <a:srgbClr val="D7DEEA"/>
                </a:solidFill>
                <a:latin typeface="Calibri"/>
              </a:rPr>
              <a:t>Let a comparison group subtract out everything that would have happened anyway.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6692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7F8694"/>
                </a:solidFill>
                <a:latin typeface="Calibri"/>
              </a:rPr>
              <a:t>Week 10   ·   4-credit graduate seminar   ·   theory + assumptions + code + a real case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TODAY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What we will cover in Week 10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539496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2F6DB5"/>
                </a:solidFill>
                <a:latin typeface="Calibri"/>
              </a:rPr>
              <a:t>The 2×2 estimator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A difference of differences cancels the common trend.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2F6DB5"/>
                </a:solidFill>
                <a:latin typeface="Calibri"/>
              </a:rPr>
              <a:t>Parallel trends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The one assumption — and what it does and doesn't require.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2F6DB5"/>
                </a:solidFill>
                <a:latin typeface="Calibri"/>
              </a:rPr>
              <a:t>Event-study plots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Leads as a diagnostic, lags as the dynamic effect.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920240"/>
            <a:ext cx="539496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2F6DB5"/>
                </a:solidFill>
                <a:latin typeface="Calibri"/>
              </a:rPr>
              <a:t>Two-way fixed effects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The regression form, and where it breaks.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2F6DB5"/>
                </a:solidFill>
                <a:latin typeface="Calibri"/>
              </a:rPr>
              <a:t>Staggered adoption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Forbidden comparisons, negative weights, modern fixes.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2F6DB5"/>
                </a:solidFill>
                <a:latin typeface="Calibri"/>
              </a:rPr>
              <a:t>Case + inference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Card &amp; Krueger, and why we cluster standard errors.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Subtract out what would have happened anyway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704088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A treated group's before/after change mixes the treatment effect with everything else that moved.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A comparison group's before/after change measures that 'everything else' on its own.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Difference-in-differences = (treated change) − (control change).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7F8694"/>
                </a:solidFill>
                <a:latin typeface="Calibri"/>
              </a:rPr>
              <a:t>·  </a:t>
            </a:r>
            <a:r>
              <a:rPr sz="1500" b="0" i="0">
                <a:solidFill>
                  <a:srgbClr val="44546A"/>
                </a:solidFill>
                <a:latin typeface="Calibri"/>
              </a:rPr>
              <a:t>The common part cancels; the effect remains.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Where it shines: a policy hits some units at some time, and you have untreated units to compare against.</a:t>
            </a:r>
          </a:p>
        </p:txBody>
      </p:sp>
      <p:sp>
        <p:nvSpPr>
          <p:cNvPr id="6" name="Rectangle 5"/>
          <p:cNvSpPr/>
          <p:nvPr/>
        </p:nvSpPr>
        <p:spPr>
          <a:xfrm>
            <a:off x="7818120" y="1874519"/>
            <a:ext cx="3840480" cy="329184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18120" y="1874519"/>
            <a:ext cx="91440" cy="32918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74152" y="2057400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One-liner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74152" y="2606040"/>
            <a:ext cx="33832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Let a comparison group subtract out the counterfactual trend for you.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WHERE IT COMES FROM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A classic: Card &amp; Krueger and the minimum wage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704088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1992: New Jersey raised its minimum wage; neighbouring Pennsylvania did not.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Simple theory predicted job losses where the wage rose.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Comparing the employment CHANGE in NJ fast-food restaurants to the change in PA found no relative drop.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The control state nets out region-wide trends — the heart of the DiD design.</a:t>
            </a:r>
          </a:p>
        </p:txBody>
      </p:sp>
      <p:sp>
        <p:nvSpPr>
          <p:cNvPr id="6" name="Rectangle 5"/>
          <p:cNvSpPr/>
          <p:nvPr/>
        </p:nvSpPr>
        <p:spPr>
          <a:xfrm>
            <a:off x="7818120" y="1874519"/>
            <a:ext cx="3840480" cy="329184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18120" y="1874519"/>
            <a:ext cx="91440" cy="32918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74152" y="2057400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Why it mattered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74152" y="2606040"/>
            <a:ext cx="33832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A credible quasi-experiment reshaped a textbook debate — and made DiD famous.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CARD &amp; KRUEGER (1994), STYLISED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The minimum-wage DiD in numbers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920240"/>
          <a:ext cx="11064240" cy="18288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State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Before (FTE)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After (FTE)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Change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732"/>
                          </a:solidFill>
                        </a:rPr>
                        <a:t>New Jersey (wage ↑)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732"/>
                          </a:solidFill>
                        </a:rPr>
                        <a:t>20.4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732"/>
                          </a:solidFill>
                        </a:rPr>
                        <a:t>21.0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732"/>
                          </a:solidFill>
                        </a:rPr>
                        <a:t>+0.6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732"/>
                          </a:solidFill>
                        </a:rPr>
                        <a:t>Pennsylvania (control)</a:t>
                      </a:r>
                    </a:p>
                  </a:txBody>
                  <a:tcPr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732"/>
                          </a:solidFill>
                        </a:rPr>
                        <a:t>23.3</a:t>
                      </a:r>
                    </a:p>
                  </a:txBody>
                  <a:tcPr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732"/>
                          </a:solidFill>
                        </a:rPr>
                        <a:t>21.2</a:t>
                      </a:r>
                    </a:p>
                  </a:txBody>
                  <a:tcPr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732"/>
                          </a:solidFill>
                        </a:rPr>
                        <a:t>−2.1</a:t>
                      </a:r>
                    </a:p>
                  </a:txBody>
                  <a:tcPr>
                    <a:solidFill>
                      <a:srgbClr val="ECEE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732"/>
                          </a:solidFill>
                        </a:rPr>
                        <a:t>DiD (NJ − PA)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732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732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732"/>
                          </a:solidFill>
                        </a:rPr>
                        <a:t>+2.7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715000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2A9D8F"/>
                </a:solidFill>
                <a:latin typeface="Calibri"/>
              </a:rPr>
              <a:t>Read it:  </a:t>
            </a:r>
            <a:r>
              <a:rPr sz="1400" b="0" i="0">
                <a:solidFill>
                  <a:srgbClr val="222732"/>
                </a:solidFill>
                <a:latin typeface="Calibri"/>
              </a:rPr>
              <a:t>Employment fell in the control state; relative to that trend, the wage rise did not cost jobs — it nudged them up.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2377440"/>
            <a:ext cx="164592" cy="18288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1945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E9A23B"/>
                </a:solidFill>
                <a:latin typeface="Calibri"/>
              </a:rPr>
              <a:t>PART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697480"/>
            <a:ext cx="104241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The 2×2 estimator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4023360"/>
            <a:ext cx="98755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1">
                <a:solidFill>
                  <a:srgbClr val="C7D2E2"/>
                </a:solidFill>
                <a:latin typeface="Calibri"/>
              </a:rPr>
              <a:t>Two groups, two periods, and two differences that strip away everything except the effect.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THE FOUR CELLS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Difference twice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920240"/>
          <a:ext cx="11064240" cy="18288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Group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Before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After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Change (After − Before)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732"/>
                          </a:solidFill>
                        </a:rPr>
                        <a:t>Treated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732"/>
                          </a:solidFill>
                        </a:rPr>
                        <a:t>Ȳ_T,pre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732"/>
                          </a:solidFill>
                        </a:rPr>
                        <a:t>Ȳ_T,post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732"/>
                          </a:solidFill>
                        </a:rPr>
                        <a:t>ΔT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732"/>
                          </a:solidFill>
                        </a:rPr>
                        <a:t>Control</a:t>
                      </a:r>
                    </a:p>
                  </a:txBody>
                  <a:tcPr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732"/>
                          </a:solidFill>
                        </a:rPr>
                        <a:t>Ȳ_C,pre</a:t>
                      </a:r>
                    </a:p>
                  </a:txBody>
                  <a:tcPr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732"/>
                          </a:solidFill>
                        </a:rPr>
                        <a:t>Ȳ_C,post</a:t>
                      </a:r>
                    </a:p>
                  </a:txBody>
                  <a:tcPr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732"/>
                          </a:solidFill>
                        </a:rPr>
                        <a:t>ΔC</a:t>
                      </a:r>
                    </a:p>
                  </a:txBody>
                  <a:tcPr>
                    <a:solidFill>
                      <a:srgbClr val="ECEE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732"/>
                          </a:solidFill>
                        </a:rPr>
                        <a:t>DiD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732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732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732"/>
                          </a:solidFill>
                        </a:rPr>
                        <a:t>ΔT − ΔC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715000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2A9D8F"/>
                </a:solidFill>
                <a:latin typeface="Calibri"/>
              </a:rPr>
              <a:t>Read it:  </a:t>
            </a:r>
            <a:r>
              <a:rPr sz="1400" b="0" i="0">
                <a:solidFill>
                  <a:srgbClr val="222732"/>
                </a:solidFill>
                <a:latin typeface="Calibri"/>
              </a:rPr>
              <a:t>First difference (over time) kills the fixed group gap; the second difference (across groups) kills the common time trend.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WHAT EACH DIFFERENCE REMOVES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Two nuisances, two differences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704088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Fixed group gap: treated and control may differ in LEVEL for all time — differenced away by the over-time change.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Common time trend: anything that moves both groups together — differenced away by comparing the two changes.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What survives both is the part that hit only the treated group only after treatment.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7F8694"/>
                </a:solidFill>
                <a:latin typeface="Calibri"/>
              </a:rPr>
              <a:t>·  </a:t>
            </a:r>
            <a:r>
              <a:rPr sz="1500" b="0" i="0">
                <a:solidFill>
                  <a:srgbClr val="44546A"/>
                </a:solidFill>
                <a:latin typeface="Calibri"/>
              </a:rPr>
              <a:t>That surviving part is the DiD estimate of the effect.</a:t>
            </a:r>
          </a:p>
        </p:txBody>
      </p:sp>
      <p:sp>
        <p:nvSpPr>
          <p:cNvPr id="6" name="Rectangle 5"/>
          <p:cNvSpPr/>
          <p:nvPr/>
        </p:nvSpPr>
        <p:spPr>
          <a:xfrm>
            <a:off x="7818120" y="1874519"/>
            <a:ext cx="3840480" cy="329184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18120" y="1874519"/>
            <a:ext cx="91440" cy="32918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74152" y="2057400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Equivalently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74152" y="2606040"/>
            <a:ext cx="33832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DiD is the post×treat interaction coefficient in a regression — same number, more machinery.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188720"/>
            <a:ext cx="1828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0" b="1" i="0">
                <a:solidFill>
                  <a:srgbClr val="E9A23B"/>
                </a:solidFill>
                <a:latin typeface="Calibri"/>
              </a:rPr>
              <a:t>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194560"/>
            <a:ext cx="100584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FFFFFF"/>
                </a:solidFill>
                <a:latin typeface="Calibri"/>
              </a:rPr>
              <a:t>DiD doesn't need the groups to be the same — only their trends.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93776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0" i="1">
                <a:solidFill>
                  <a:srgbClr val="C7D2E2"/>
                </a:solidFill>
                <a:latin typeface="Calibri"/>
              </a:rPr>
              <a:t>A constant gap between treated and control is harmless; it cancels in the first difference. All the identifying weight rests on the trends, not the levels.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2377440"/>
            <a:ext cx="164592" cy="18288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1945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E9A23B"/>
                </a:solidFill>
                <a:latin typeface="Calibri"/>
              </a:rPr>
              <a:t>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697480"/>
            <a:ext cx="104241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Parallel trends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4023360"/>
            <a:ext cx="98755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1">
                <a:solidFill>
                  <a:srgbClr val="C7D2E2"/>
                </a:solidFill>
                <a:latin typeface="Calibri"/>
              </a:rPr>
              <a:t>The single identifying assumption — what it claims, and why no test can confirm it.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THE ASSUMPTION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Absent treatment, the trends would have matched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704088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Parallel trends: the treated group's counterfactual (untreated) trend equals the control group's observed trend.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It licenses using ΔC as the treated group's 'what would have happened anyway.'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It is about an UNOBSERVED counterfactual — so it cannot be verified directly.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It is scale-dependent: parallel in levels need not mean parallel in logs. Choose the scale deliberately.</a:t>
            </a:r>
          </a:p>
        </p:txBody>
      </p:sp>
      <p:sp>
        <p:nvSpPr>
          <p:cNvPr id="6" name="Rectangle 5"/>
          <p:cNvSpPr/>
          <p:nvPr/>
        </p:nvSpPr>
        <p:spPr>
          <a:xfrm>
            <a:off x="7818120" y="1874519"/>
            <a:ext cx="3840480" cy="329184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18120" y="1874519"/>
            <a:ext cx="91440" cy="32918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74152" y="2057400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Not assumed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74152" y="2606040"/>
            <a:ext cx="33832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Equal levels, equal variances, or identical units. Only the trends must line up.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A COMMON CONFUSION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What parallel trends does and does not require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920240"/>
            <a:ext cx="5394960" cy="429768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920240"/>
            <a:ext cx="5394960" cy="640080"/>
          </a:xfrm>
          <a:prstGeom prst="rect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29968"/>
            <a:ext cx="5029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Required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743200"/>
            <a:ext cx="50292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Equal counterfactual TRENDS.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A credible untreated comparison group.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A deliberate choice of scale (levels vs logs).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No treatment-driven composition change.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920240"/>
            <a:ext cx="5394960" cy="429768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920240"/>
            <a:ext cx="5394960" cy="64008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029968"/>
            <a:ext cx="5029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NOT required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743200"/>
            <a:ext cx="50292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Equal pre-treatment LEVELS.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Randomized treatment assignment.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Identical groups in every respect.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Balance on every covariate.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THE PROBE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Pre-trend tests: useful, not decisive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704088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If treated and control moved in parallel BEFORE treatment, the post-period assumption is more believable.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But the assumption concerns the post-period counterfactual, which a pre-trend test never observes.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Tests can be low-powered: a flat pre-period can hide a real violation.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And conditioning the analysis on passing the test distorts the subsequent inference.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818120" y="1874519"/>
            <a:ext cx="3840480" cy="329184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18120" y="1874519"/>
            <a:ext cx="91440" cy="32918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74152" y="2057400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Report it 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74152" y="2606040"/>
            <a:ext cx="33832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Supportive diagnostic evidence — never as 'proof that parallel trends holds.'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2377440"/>
            <a:ext cx="164592" cy="18288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1945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E9A23B"/>
                </a:solidFill>
                <a:latin typeface="Calibri"/>
              </a:rPr>
              <a:t>PART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697480"/>
            <a:ext cx="104241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Event-study plots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4023360"/>
            <a:ext cx="98755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1">
                <a:solidFill>
                  <a:srgbClr val="C7D2E2"/>
                </a:solidFill>
                <a:latin typeface="Calibri"/>
              </a:rPr>
              <a:t>One coefficient per period relative to adoption — the canonical DiD diagnostic in a single picture.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THE CONSTRUCTION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Leads and lags around adoption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704088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Replace the single post×treat term with one term per event time (periods since/until adoption).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Omit one reference period — usually the period just before treatment — so the rest are read relative to it.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Negative event times are 'leads' (pre-treatment); non-negative are 'lags' (post-treatment).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Plot the coefficients with confidence bands against event time.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818120" y="1874519"/>
            <a:ext cx="3840480" cy="329184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18120" y="1874519"/>
            <a:ext cx="91440" cy="32918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74152" y="2057400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Reference period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74152" y="2606040"/>
            <a:ext cx="33832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Every coefficient is a contrast against the omitted period (t = −1). The reference is mechanically zero.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HOW TO READ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Leads diagnose, lags describe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920240"/>
            <a:ext cx="3505200" cy="429768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920240"/>
            <a:ext cx="3505200" cy="640080"/>
          </a:xfrm>
          <a:prstGeom prst="rect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29968"/>
            <a:ext cx="3139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Leads ≈ 0 (pre-period)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743200"/>
            <a:ext cx="313944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Treated &amp; control on the same path before treatment.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The visual parallel-trends check.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Flat, tight bands = reassuring.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28160" y="1920240"/>
            <a:ext cx="3505200" cy="429768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28160" y="1920240"/>
            <a:ext cx="3505200" cy="64008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11040" y="2029968"/>
            <a:ext cx="3139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Lags (post-period)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11040" y="2743200"/>
            <a:ext cx="313944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Trace the effect over time.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Jump, ramp-up, or fade-out.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This is the dynamic treatment effect.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07680" y="1920240"/>
            <a:ext cx="3505200" cy="429768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07680" y="1920240"/>
            <a:ext cx="3505200" cy="64008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90560" y="2029968"/>
            <a:ext cx="3139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Sloping leads = trouble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0560" y="2743200"/>
            <a:ext cx="313944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Groups already diverging pre-treatment.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Parallel trends in doubt.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Effect may be a pre-existing trend.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188720"/>
            <a:ext cx="1828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0" b="1" i="0">
                <a:solidFill>
                  <a:srgbClr val="E9A23B"/>
                </a:solidFill>
                <a:latin typeface="Calibri"/>
              </a:rPr>
              <a:t>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194560"/>
            <a:ext cx="100584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FFFFFF"/>
                </a:solidFill>
                <a:latin typeface="Calibri"/>
              </a:rPr>
              <a:t>Flat leads, then rising lags: the picture every DiD paper hopes to show.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93776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0" i="1">
                <a:solidFill>
                  <a:srgbClr val="C7D2E2"/>
                </a:solidFill>
                <a:latin typeface="Calibri"/>
              </a:rPr>
              <a:t>The pre-period is your evidence the design is credible; the post-period is your story about how the effect unfolds. One plot carries both.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2377440"/>
            <a:ext cx="164592" cy="18288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1945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E9A23B"/>
                </a:solidFill>
                <a:latin typeface="Calibri"/>
              </a:rPr>
              <a:t>PART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697480"/>
            <a:ext cx="104241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Two-way fixed effects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4023360"/>
            <a:ext cx="98755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1">
                <a:solidFill>
                  <a:srgbClr val="C7D2E2"/>
                </a:solidFill>
                <a:latin typeface="Calibri"/>
              </a:rPr>
              <a:t>The workhorse regression — and the staggered-adoption trap hiding inside it.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THE REGRESSION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Unit FE + time FE + a treatment dummy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704088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Fit y = αᵢ (unit FE) + λₜ (time FE) + δ·treated_now + ε.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Unit FE absorb fixed level differences; time FE absorb the common trend — exactly the two nuisances DiD removes.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With ONE adoption date, δ is precisely the 2×2 DiD. Clean and intuitive.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The trouble starts when different units adopt at different times.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818120" y="1874519"/>
            <a:ext cx="3840480" cy="329184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18120" y="1874519"/>
            <a:ext cx="91440" cy="32918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74152" y="2057400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Single-date 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74152" y="2606040"/>
            <a:ext cx="33832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Two-way fixed effects = difference-in-differences. The machinery and the 2×2 agree.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WHAT Δ REALLY 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A weighted average of many 2×2 comparisons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704088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Under staggered adoption, δ is a weighted blend of every possible 2×2 DiD in the data.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Some compare newly-treated units to not-yet-treated ones — fine.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Others compare newly-treated units to ALREADY-treated ones — the forbidden comparisons.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An already-treated 'control' whose own effect is still evolving contaminates the contrast.</a:t>
            </a:r>
          </a:p>
        </p:txBody>
      </p:sp>
      <p:sp>
        <p:nvSpPr>
          <p:cNvPr id="6" name="Rectangle 5"/>
          <p:cNvSpPr/>
          <p:nvPr/>
        </p:nvSpPr>
        <p:spPr>
          <a:xfrm>
            <a:off x="7818120" y="1874519"/>
            <a:ext cx="3840480" cy="329184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18120" y="1874519"/>
            <a:ext cx="91440" cy="32918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74152" y="2057400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Goodman-Bacon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74152" y="2606040"/>
            <a:ext cx="33832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The decomposition that names each 2×2 and its weight — including the bad ones.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THE PITFALL, SHARPENED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Why TWFE can mislead under staggering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920240"/>
            <a:ext cx="3505200" cy="429768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920240"/>
            <a:ext cx="3505200" cy="640080"/>
          </a:xfrm>
          <a:prstGeom prst="rect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29968"/>
            <a:ext cx="3139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Forbidden comparisons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743200"/>
            <a:ext cx="313944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Already-treated units used as controls.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Their evolving effect leaks in.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Worst with dynamic effects.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28160" y="1920240"/>
            <a:ext cx="3505200" cy="429768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28160" y="1920240"/>
            <a:ext cx="3505200" cy="64008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11040" y="2029968"/>
            <a:ext cx="3139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Negative weights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11040" y="2743200"/>
            <a:ext cx="313944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Some 2×2 terms enter with negative sign.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δ can land outside the range of true effects.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Even the SIGN can flip.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07680" y="1920240"/>
            <a:ext cx="3505200" cy="429768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07680" y="1920240"/>
            <a:ext cx="3505200" cy="64008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90560" y="2029968"/>
            <a:ext cx="3139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Not a data bug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0560" y="2743200"/>
            <a:ext cx="313944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Clean data, known positive effect.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Bias is built into the estimator.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Heterogeneity + dynamics trigger it.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188720"/>
            <a:ext cx="1828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0" b="1" i="0">
                <a:solidFill>
                  <a:srgbClr val="E9A23B"/>
                </a:solidFill>
                <a:latin typeface="Calibri"/>
              </a:rPr>
              <a:t>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194560"/>
            <a:ext cx="100584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FFFFFF"/>
                </a:solidFill>
                <a:latin typeface="Calibri"/>
              </a:rPr>
              <a:t>With staggered timing and heterogeneous effects, the TWFE coefficient can have the wrong sign.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93776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0" i="1">
                <a:solidFill>
                  <a:srgbClr val="C7D2E2"/>
                </a:solidFill>
                <a:latin typeface="Calibri"/>
              </a:rPr>
              <a:t>It is not noise and it is not confounding — the negative weights are baked into the estimator. This is the result that launched the modern DiD literature.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2377440"/>
            <a:ext cx="164592" cy="18288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1945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E9A23B"/>
                </a:solidFill>
                <a:latin typeface="Calibri"/>
              </a:rPr>
              <a:t>PART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697480"/>
            <a:ext cx="104241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Modern DiD estimators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4023360"/>
            <a:ext cx="98755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1">
                <a:solidFill>
                  <a:srgbClr val="C7D2E2"/>
                </a:solidFill>
                <a:latin typeface="Calibri"/>
              </a:rPr>
              <a:t>Estimate clean cohort-by-period effects, then aggregate — never let an already-treated unit be a control.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THE BUILDING BLOCK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Group-time effects ATT(g, t)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704088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For each adoption cohort g and each period t, estimate the effect ATT(g, t) on that cohort in that period.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Use only CLEAN controls: never-treated units, or units not-yet-treated by period t.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Each ATT(g, t) is a clean 2×2 DiD — no forbidden comparison.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Aggregate the ATT(g, t) into an overall, an event-study, or a cohort-specific summary.</a:t>
            </a:r>
          </a:p>
        </p:txBody>
      </p:sp>
      <p:sp>
        <p:nvSpPr>
          <p:cNvPr id="6" name="Rectangle 5"/>
          <p:cNvSpPr/>
          <p:nvPr/>
        </p:nvSpPr>
        <p:spPr>
          <a:xfrm>
            <a:off x="7818120" y="1874519"/>
            <a:ext cx="3840480" cy="329184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18120" y="1874519"/>
            <a:ext cx="91440" cy="32918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74152" y="2057400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Callaway–Sant'Anna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74152" y="2606040"/>
            <a:ext cx="33832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The canonical recipe for ATT(g, t) and its aggregations. What you implement in lab.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SAME IDEA, DIFFERENT RECIPES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The modern DiD toolkit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920240"/>
          <a:ext cx="11064240" cy="22860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Estimator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Core idea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Software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732"/>
                          </a:solidFill>
                        </a:rPr>
                        <a:t>Callaway–Sant'Anna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732"/>
                          </a:solidFill>
                        </a:rPr>
                        <a:t>ATT(g,t) vs clean controls, then aggregate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732"/>
                          </a:solidFill>
                        </a:rPr>
                        <a:t>R: did · py: differences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732"/>
                          </a:solidFill>
                        </a:rPr>
                        <a:t>Sun–Abraham</a:t>
                      </a:r>
                    </a:p>
                  </a:txBody>
                  <a:tcPr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732"/>
                          </a:solidFill>
                        </a:rPr>
                        <a:t>Saturated event-study, interaction-weighted</a:t>
                      </a:r>
                    </a:p>
                  </a:txBody>
                  <a:tcPr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732"/>
                          </a:solidFill>
                        </a:rPr>
                        <a:t>R: fixest sunab()</a:t>
                      </a:r>
                    </a:p>
                  </a:txBody>
                  <a:tcPr>
                    <a:solidFill>
                      <a:srgbClr val="ECEE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732"/>
                          </a:solidFill>
                        </a:rPr>
                        <a:t>de Chaisemartin–D'Haultfœuille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732"/>
                          </a:solidFill>
                        </a:rPr>
                        <a:t>Effects on switchers, no bad 2×2s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732"/>
                          </a:solidFill>
                        </a:rPr>
                        <a:t>R: DIDmultiplegt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732"/>
                          </a:solidFill>
                        </a:rPr>
                        <a:t>Borusyak et al.</a:t>
                      </a:r>
                    </a:p>
                  </a:txBody>
                  <a:tcPr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732"/>
                          </a:solidFill>
                        </a:rPr>
                        <a:t>Impute the untreated counterfactual</a:t>
                      </a:r>
                    </a:p>
                  </a:txBody>
                  <a:tcPr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732"/>
                          </a:solidFill>
                        </a:rPr>
                        <a:t>R: didimputation</a:t>
                      </a:r>
                    </a:p>
                  </a:txBody>
                  <a:tcPr>
                    <a:solidFill>
                      <a:srgbClr val="ECEEF2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715000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2A9D8F"/>
                </a:solidFill>
                <a:latin typeface="Calibri"/>
              </a:rPr>
              <a:t>Shared principle:  </a:t>
            </a:r>
            <a:r>
              <a:rPr sz="1400" b="0" i="0">
                <a:solidFill>
                  <a:srgbClr val="222732"/>
                </a:solidFill>
                <a:latin typeface="Calibri"/>
              </a:rPr>
              <a:t>Build clean cohort×period comparisons, then aggregate — they differ mainly in the controls and the weighting.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YOUR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Doing staggered DiD safely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48640" y="2011680"/>
            <a:ext cx="640080" cy="758952"/>
          </a:xfrm>
          <a:prstGeom prst="ellipse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640080" cy="7589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011680"/>
            <a:ext cx="100584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</a:rPr>
              <a:t>Define cohorts  </a:t>
            </a:r>
            <a:r>
              <a:rPr sz="1500" b="0" i="0">
                <a:solidFill>
                  <a:srgbClr val="222732"/>
                </a:solidFill>
                <a:latin typeface="Calibri"/>
              </a:rPr>
              <a:t>— group units by adoption period g (never-treated as the clean control).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880360"/>
            <a:ext cx="640080" cy="758952"/>
          </a:xfrm>
          <a:prstGeom prst="ellipse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880360"/>
            <a:ext cx="640080" cy="7589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880360"/>
            <a:ext cx="100584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</a:rPr>
              <a:t>Estimate ATT(g,t)  </a:t>
            </a:r>
            <a:r>
              <a:rPr sz="1500" b="0" i="0">
                <a:solidFill>
                  <a:srgbClr val="222732"/>
                </a:solidFill>
                <a:latin typeface="Calibri"/>
              </a:rPr>
              <a:t>— a clean 2×2 for each cohort and period against valid controls.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749040"/>
            <a:ext cx="640080" cy="758952"/>
          </a:xfrm>
          <a:prstGeom prst="ellipse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749040"/>
            <a:ext cx="640080" cy="7589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749040"/>
            <a:ext cx="100584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</a:rPr>
              <a:t>Aggregate  </a:t>
            </a:r>
            <a:r>
              <a:rPr sz="1500" b="0" i="0">
                <a:solidFill>
                  <a:srgbClr val="222732"/>
                </a:solidFill>
                <a:latin typeface="Calibri"/>
              </a:rPr>
              <a:t>— overall, by event time, or by cohort, with the right weights.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4617720"/>
            <a:ext cx="640080" cy="758952"/>
          </a:xfrm>
          <a:prstGeom prst="ellipse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4617720"/>
            <a:ext cx="640080" cy="7589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617720"/>
            <a:ext cx="100584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</a:rPr>
              <a:t>Plot &amp; test  </a:t>
            </a:r>
            <a:r>
              <a:rPr sz="1500" b="0" i="0">
                <a:solidFill>
                  <a:srgbClr val="222732"/>
                </a:solidFill>
                <a:latin typeface="Calibri"/>
              </a:rPr>
              <a:t>— event-study from the ATT(g,t); inspect leads for pre-trends.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98932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1">
                <a:solidFill>
                  <a:srgbClr val="7F8694"/>
                </a:solidFill>
                <a:latin typeface="Calibri"/>
              </a:rPr>
              <a:t>Same DiD logic — just refuse the forbidden comparisons.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2377440"/>
            <a:ext cx="164592" cy="18288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1945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E9A23B"/>
                </a:solidFill>
                <a:latin typeface="Calibri"/>
              </a:rPr>
              <a:t>PART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697480"/>
            <a:ext cx="104241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Inference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4023360"/>
            <a:ext cx="98755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1">
                <a:solidFill>
                  <a:srgbClr val="C7D2E2"/>
                </a:solidFill>
                <a:latin typeface="Calibri"/>
              </a:rPr>
              <a:t>Panel data are serially correlated; naive standard errors are badly too small.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Why naive standard errors lie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704088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A unit's outcomes are correlated across its own periods — persistent shocks, not fresh draws.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So 1,000 unit-periods carry far less information than 1,000 independent observations.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Treatment is assigned at the unit level and persists, compounding the dependence.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Result: naive SEs can be several times too small — spurious significance (Bertrand, Duflo &amp; Mullainathan 2004).</a:t>
            </a:r>
          </a:p>
        </p:txBody>
      </p:sp>
      <p:sp>
        <p:nvSpPr>
          <p:cNvPr id="6" name="Rectangle 5"/>
          <p:cNvSpPr/>
          <p:nvPr/>
        </p:nvSpPr>
        <p:spPr>
          <a:xfrm>
            <a:off x="7818120" y="1874519"/>
            <a:ext cx="3840480" cy="329184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18120" y="1874519"/>
            <a:ext cx="91440" cy="32918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74152" y="2057400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The symptom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74152" y="2606040"/>
            <a:ext cx="33832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Implausibly tight confidence intervals and t-stats that are too good to be true.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THE FIX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Cluster — and what to do with few clusters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920240"/>
            <a:ext cx="5394960" cy="429768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920240"/>
            <a:ext cx="5394960" cy="640080"/>
          </a:xfrm>
          <a:prstGeom prst="rect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29968"/>
            <a:ext cx="5029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Many clusters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743200"/>
            <a:ext cx="50292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Cluster-robust SEs at the unit.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Allows arbitrary within-unit correlation.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The default for panel DiD.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920240"/>
            <a:ext cx="5394960" cy="429768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920240"/>
            <a:ext cx="5394960" cy="64008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029968"/>
            <a:ext cx="5029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Few clusters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743200"/>
            <a:ext cx="50292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Cluster-robust SEs become unreliable.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Wild-cluster bootstrap.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Randomization / permutation inference.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22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THE FIVE TRAPS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Where DiD studies go wrong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704088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Assuming equal LEVELS instead of equal trends — a non-issue dressed up as a fatal flaw.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Calling a passed pre-trend test 'proof' of parallel trends.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Reading naive TWFE as 'the effect' under staggered adoption.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Ignoring scale — trends parallel in levels need not be parallel in logs.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Forgetting to cluster, and reporting standard errors that are far too small.</a:t>
            </a:r>
          </a:p>
        </p:txBody>
      </p:sp>
      <p:sp>
        <p:nvSpPr>
          <p:cNvPr id="6" name="Rectangle 5"/>
          <p:cNvSpPr/>
          <p:nvPr/>
        </p:nvSpPr>
        <p:spPr>
          <a:xfrm>
            <a:off x="7818120" y="1874519"/>
            <a:ext cx="3840480" cy="329184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18120" y="1874519"/>
            <a:ext cx="91440" cy="32918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74152" y="2057400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Antidote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74152" y="2606040"/>
            <a:ext cx="33832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An event-study plot, a group-time estimator, and cluster-robust SEs handle four of the five.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23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2377440"/>
            <a:ext cx="164592" cy="18288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1945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E9A23B"/>
                </a:solidFill>
                <a:latin typeface="Calibri"/>
              </a:rPr>
              <a:t>PART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697480"/>
            <a:ext cx="104241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Putting it together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4023360"/>
            <a:ext cx="98755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1">
                <a:solidFill>
                  <a:srgbClr val="C7D2E2"/>
                </a:solidFill>
                <a:latin typeface="Calibri"/>
              </a:rPr>
              <a:t>From a single 2×2 to a defensible staggered-adoption study.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THE DID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What a credible DiD study reports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48640" y="2011680"/>
            <a:ext cx="640080" cy="731519"/>
          </a:xfrm>
          <a:prstGeom prst="ellipse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640080" cy="73151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011680"/>
            <a:ext cx="10058400" cy="84124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</a:rPr>
              <a:t>Design  </a:t>
            </a:r>
            <a:r>
              <a:rPr sz="1500" b="0" i="0">
                <a:solidFill>
                  <a:srgbClr val="222732"/>
                </a:solidFill>
                <a:latin typeface="Calibri"/>
              </a:rPr>
              <a:t>— who is treated, when, and which untreated group is the comparison.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852927"/>
            <a:ext cx="640080" cy="731519"/>
          </a:xfrm>
          <a:prstGeom prst="ellipse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852927"/>
            <a:ext cx="640080" cy="73151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852927"/>
            <a:ext cx="10058400" cy="84124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</a:rPr>
              <a:t>Parallel trends  </a:t>
            </a:r>
            <a:r>
              <a:rPr sz="1500" b="0" i="0">
                <a:solidFill>
                  <a:srgbClr val="222732"/>
                </a:solidFill>
                <a:latin typeface="Calibri"/>
              </a:rPr>
              <a:t>— argue it, then show an event-study with flat leads.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694174"/>
            <a:ext cx="640080" cy="731519"/>
          </a:xfrm>
          <a:prstGeom prst="ellipse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694174"/>
            <a:ext cx="640080" cy="73151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694174"/>
            <a:ext cx="10058400" cy="84124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</a:rPr>
              <a:t>Estimator  </a:t>
            </a:r>
            <a:r>
              <a:rPr sz="1500" b="0" i="0">
                <a:solidFill>
                  <a:srgbClr val="222732"/>
                </a:solidFill>
                <a:latin typeface="Calibri"/>
              </a:rPr>
              <a:t>— 2×2/TWFE for a single date; a group-time method if staggered.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4535421"/>
            <a:ext cx="640080" cy="731519"/>
          </a:xfrm>
          <a:prstGeom prst="ellipse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4535421"/>
            <a:ext cx="640080" cy="73151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535421"/>
            <a:ext cx="10058400" cy="84124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</a:rPr>
              <a:t>Inference  </a:t>
            </a:r>
            <a:r>
              <a:rPr sz="1500" b="0" i="0">
                <a:solidFill>
                  <a:srgbClr val="222732"/>
                </a:solidFill>
                <a:latin typeface="Calibri"/>
              </a:rPr>
              <a:t>— cluster at the unit; bootstrap with few clusters.</a:t>
            </a:r>
          </a:p>
        </p:txBody>
      </p:sp>
      <p:sp>
        <p:nvSpPr>
          <p:cNvPr id="17" name="Oval 16"/>
          <p:cNvSpPr/>
          <p:nvPr/>
        </p:nvSpPr>
        <p:spPr>
          <a:xfrm>
            <a:off x="548640" y="5376668"/>
            <a:ext cx="640080" cy="731519"/>
          </a:xfrm>
          <a:prstGeom prst="ellipse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5376668"/>
            <a:ext cx="640080" cy="73151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5376668"/>
            <a:ext cx="10058400" cy="84124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</a:rPr>
              <a:t>Robustness  </a:t>
            </a:r>
            <a:r>
              <a:rPr sz="1500" b="0" i="0">
                <a:solidFill>
                  <a:srgbClr val="222732"/>
                </a:solidFill>
                <a:latin typeface="Calibri"/>
              </a:rPr>
              <a:t>— scale (levels vs logs), alternative controls, placebo dates.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98932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1">
                <a:solidFill>
                  <a:srgbClr val="7F8694"/>
                </a:solidFill>
                <a:latin typeface="Calibri"/>
              </a:rPr>
              <a:t>Same five-step causal workflow — specialised to panels.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24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What to carry into the lab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704088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DiD lets a comparison group subtract out the counterfactual trend.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Parallel trends is the whole assumption — untestable, but probed by an event study.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Naive TWFE is fine for one adoption date and dangerous under staggered adoption with heterogeneity.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Use clean group-time comparisons, and cluster your standard errors at the unit.</a:t>
            </a:r>
          </a:p>
        </p:txBody>
      </p:sp>
      <p:sp>
        <p:nvSpPr>
          <p:cNvPr id="6" name="Rectangle 5"/>
          <p:cNvSpPr/>
          <p:nvPr/>
        </p:nvSpPr>
        <p:spPr>
          <a:xfrm>
            <a:off x="7818120" y="1874519"/>
            <a:ext cx="3840480" cy="329184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18120" y="1874519"/>
            <a:ext cx="91440" cy="32918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74152" y="2057400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Next week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74152" y="2606040"/>
            <a:ext cx="33832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One treated unit, many controls — synthetic control builds a bespoke comparison.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25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188720"/>
            <a:ext cx="1828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0" b="1" i="0">
                <a:solidFill>
                  <a:srgbClr val="E9A23B"/>
                </a:solidFill>
                <a:latin typeface="Calibri"/>
              </a:rPr>
              <a:t>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194560"/>
            <a:ext cx="100584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FFFFFF"/>
                </a:solidFill>
                <a:latin typeface="Calibri"/>
              </a:rPr>
              <a:t>Difference away what would have happened anyway — but only compare units you are allowed to compare.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93776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0" i="1">
                <a:solidFill>
                  <a:srgbClr val="C7D2E2"/>
                </a:solidFill>
                <a:latin typeface="Calibri"/>
              </a:rPr>
              <a:t>This week: recover a known effect with a 2×2 and a TWFE regression, read an event study, and watch naive TWFE break under staggered adoption — then fix it. See you in the lab.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