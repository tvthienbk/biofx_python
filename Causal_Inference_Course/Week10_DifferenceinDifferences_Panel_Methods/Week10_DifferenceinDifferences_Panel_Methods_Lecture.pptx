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III — Quasi-experimental designs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Difference-in-Differences &amp; Panel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Let a comparison group subtract out everything that would have happened anyway.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10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2×2 estimator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difference of differences cancels the common trend.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Parallel trends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one assumption — and what it does and doesn't require.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Event-study plots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Leads as a diagnostic, lags as the dynamic effect.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Two-way fixed effects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regression form, and where it breaks.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Staggered adoption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Forbidden comparisons, negative weights, modern fixes.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Case + inference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Card &amp; Krueger, and why we cluster standard errors.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Subtract out what would have happened anyway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treated group's before/after change mixes the treatment effect with everything else that moved.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comparison group's before/after change measures that 'everything else' on its own.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Difference-in-differences = (treated change) − (control change).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The common part cancels; the effect remains.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Where it shines: a policy hits some units at some time, and you have untreated units to compare against.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One-liner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Let a comparison group subtract out the counterfactual trend for you.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IT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classic: Card &amp; Krueger and the minimum wage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1992: New Jersey raised its minimum wage; neighbouring Pennsylvania did not.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Simple theory predicted job losses where the wage rose.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Comparing the employment CHANGE in NJ fast-food restaurants to the change in PA found no relative drop.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control state nets out region-wide trends — the heart of the DiD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it mattered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credible quasi-experiment reshaped a textbook debate — and made DiD famous.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CARD &amp; KRUEGER (1994), STYLISED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minimum-wage DiD in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Before (FTE)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After (FTE)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New Jersey (wage 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20.4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Pennsylvania (control)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23.3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21.2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−2.1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DiD (NJ − 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Read it: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Employment fell in the control state; relative to that trend, the wage rise did not cost jobs — it nudged them 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2×2 estimator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Two groups, two periods, and two differences that strip away everything except the effect.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FOUR CELLS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Difference twice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Before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After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Change (After − Before)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Treated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Ȳ_T,pre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Ȳ_T,post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ΔT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Control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Ȳ_C,pre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Ȳ_C,post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ΔC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DiD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ΔT − ΔC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Read it: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First difference (over time) kills the fixed group gap; the second difference (across groups) kills the common time trend.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EACH DIFFERENCE REMOVES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Two nuisances, two differences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Fixed group gap: treated and control may differ in LEVEL for all time — differenced away by the over-time change.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Common time trend: anything that moves both groups together — differenced away by comparing the two changes.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What survives both is the part that hit only the treated group only after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That surviving part is the DiD estimate of the effect.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Equivalently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DiD is the post×treat interaction coefficient in a regression — same number, more machinery.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DiD doesn't need the groups to be the same — only their trends.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A constant gap between treated and control is harmless; it cancels in the first difference. All the identifying weight rests on the trends, not the levels.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Parallel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single identifying assumption — what it claims, and why no test can confirm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ASSUMPTION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Absent treatment, the trends would have matched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Parallel trends: the treated group's counterfactual (untreated) trend equals the control group's observed trend.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licenses using ΔC as the treated group's 'what would have happened anyway.'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is about an UNOBSERVED counterfactual — so it cannot be verified directly.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is scale-dependent: parallel in levels need not mean parallel in logs. Choose the scale deliberately.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Not assumed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Equal levels, equal variances, or identical units. Only the trends must line 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 COMMON CONFUSION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parallel trends does and does not require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Equal counterfactual TRENDS.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credible untreated comparison group.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deliberate choice of scale (levels vs logs).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treatment-driven composition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NOT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Equal pre-treatment LEVELS.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Randomized treatment assignment.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Identical groups in every respect.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Balance on every covariate.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Pre-trend tests: useful, not decisive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treated and control moved in parallel BEFORE treatment, the post-period assumption is more believable.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the assumption concerns the post-period counterfactual, which a pre-trend test never observes.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Tests can be low-powered: a flat pre-period can hide a real violation.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And conditioning the analysis on passing the test distorts the subsequent inference.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Report it 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Supportive diagnostic evidence — never as 'proof that parallel trends holds.'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Event-study plots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One coefficient per period relative to adoption — the canonical DiD diagnostic in a single picture.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Leads and lags around adoption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Replace the single post×treat term with one term per event time (periods since/until adoption).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Omit one reference period — usually the period just before treatment — so the rest are read relative to 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Negative event times are 'leads' (pre-treatment); non-negative are 'lags' (post-treatment).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the coefficients with confidence bands against event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Reference 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Every coefficient is a contrast against the omitted period (t = −1). The reference is mechanically zero.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HOW TO READ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Leads diagnose, lags describe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Leads ≈ 0 (pre-period)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Treated &amp; control on the same path before treatment.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visual parallel-trends check.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Flat, tight bands = reassuring.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Lags (post-period)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Trace the effect over time.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Jump, ramp-up, or fade-out.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is the dynamic treatment effect.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Sloping leads = trouble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Groups already diverging pre-treatment.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Parallel trends in doubt.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Effect may be a pre-existing trend.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Flat leads, then rising lags: the picture every DiD paper hopes to show.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 pre-period is your evidence the design is credible; the post-period is your story about how the effect unfolds. One plot carries both.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Two-way fixed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workhorse regression — and the staggered-adoption trap hiding inside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Unit FE + time FE + a treatment dummy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 y = αᵢ (unit FE) + λₜ (time FE) + δ·treated_now + ε.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Unit FE absorb fixed level differences; time FE absorb the common trend — exactly the two nuisances DiD removes.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With ONE adoption date, δ is precisely the 2×2 DiD. Clean and intuitive.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trouble starts when different units adopt at different times.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Single-date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Two-way fixed effects = difference-in-differences. The machinery and the 2×2 agree.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Δ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weighted average of many 2×2 comparisons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Under staggered adoption, δ is a weighted blend of every possible 2×2 DiD in the data.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Some compare newly-treated units to not-yet-treated ones — fine.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Others compare newly-treated units to ALREADY-treated ones — the forbidden comparisons.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 already-treated 'control' whose own effect is still evolving contaminates the contrast.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Goodman-Bacon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decomposition that names each 2×2 and its weight — including the bad ones.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PITFALL,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TWFE can mislead under staggering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Forbidden comparisons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Already-treated units used as controls.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Their evolving effect leaks in.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Worst with dynamic effects.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Negative 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Some 2×2 terms enter with negative sign.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δ can land outside the range of true effects.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Even the SIGN can flip.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Not a data bug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Clean data, known positive effect.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Bias is built into the estimator.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Heterogeneity + dynamics trigger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With staggered timing and heterogeneous effects, the TWFE coefficient can have the wrong sign.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It is not noise and it is not confounding — the negative weights are baked into the estimator. This is the result that launched the modern DiD literature.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Modern DiD estimators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Estimate clean cohort-by-period effects, then aggregate — never let an already-treated unit be a control.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BUILDING 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Group-time effects ATT(g, 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 each adoption cohort g and each period t, estimate the effect ATT(g, t) on that cohort in that period.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Use only CLEAN controls: never-treated units, or units not-yet-treated by period 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Each ATT(g, t) is a clean 2×2 DiD — no forbidden comparison.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Aggregate the ATT(g, t) into an overall, an event-study, or a cohort-specific summary.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Callaway–Sant'Anna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canonical recipe for ATT(g, t) and its aggregations. What you implement in lab.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SAME IDEA, DIFFERENT RECIPES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modern DiD 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Estimator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Core idea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Software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Callaway–Sant'Anna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ATT(g,t) vs clean controls, then aggregate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R: did · py: differences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Sun–Abraham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Saturated event-study, interaction-weighted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R: fixest sunab()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de Chaisemartin–D'Haultfœuille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Effects on switchers, no bad 2×2s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R: DIDmultiplegt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Borusyak et al.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Impute the untreated counterfactual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R: didimputation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Shared principle: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Build clean cohort×period comparisons, then aggregate — they differ mainly in the controls and the weighting.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YOUR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Doing staggered DiD safely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Define cohorts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group units by adoption period g (never-treated as the clean control).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Estimate ATT(g,t)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clean 2×2 for each cohort and period against valid controls.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Aggregate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overall, by event time, or by cohort, with the right weights.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Plot &amp; test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event-study from the ATT(g,t); inspect leads for pre-trends.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Same DiD logic — just refuse the forbidden comparisons.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Panel data are serially correlated; naive standard errors are badly too small.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naive standard errors 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unit's outcomes are correlated across its own periods — persistent shocks, not fresh draws.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1,000 unit-periods carry far less information than 1,000 independent observations.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Treatment is assigned at the unit level and persists, compounding the dependence.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Result: naive SEs can be several times too small — spurious significance (Bertrand, Duflo &amp; Mullainathan 2004).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Implausibly tight confidence intervals and t-stats that are too good to be true.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FIX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Cluster — and what to do with few clusters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Many clusters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Cluster-robust SEs at the unit.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Allows arbitrary within-unit correlation.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default for panel DiD.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Few clusters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Cluster-robust SEs become unreliable.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Wild-cluster bootstrap.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Randomization / permutation inference.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FIVE TRAPS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Where DiD studies go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Assuming equal LEVELS instead of equal trends — a non-issue dressed up as a fatal flaw.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Calling a passed pre-trend test 'proof' of parallel trends.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Reading naive TWFE as 'the effect' under staggered adoption.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Ignoring scale — trends parallel in levels need not be parallel in logs.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Forgetting to cluster, and reporting standard errors that are far too small.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Antidote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An event-study plot, a group-time estimator, and cluster-robust SEs handle four of the five.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From a single 2×2 to a defensible staggered-adoption study.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DID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a credible DiD study reports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Design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who is treated, when, and which untreated group is the comparison.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Parallel trends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argue it, then show an event-study with flat leads.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Estimator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2×2/TWFE for a single date; a group-time method if staggered.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Inference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cluster at the unit; bootstrap with few clusters.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Robustness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scale (levels vs logs), alternative controls, placebo dates.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Same five-step causal workflow — specialised to panels.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to carry into the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DiD lets a comparison group subtract out the counterfactual trend.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Parallel trends is the whole assumption — untestable, but probed by an event study.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Naive TWFE is fine for one adoption date and dangerous under staggered adoption with heterogeneity.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Use clean group-time comparisons, and cluster your standard errors at the unit.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Next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One treated unit, many controls — synthetic control builds a bespoke comparison.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Difference away what would have happened anyway — but only compare units you are allowed to compare.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week: recover a known effect with a 2×2 and a TWFE regression, read an event study, and watch naive TWFE break under staggered adoption — then fix it. See you in the lab.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