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CAUSAL INFERENCE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5B9BD5"/>
                </a:solidFill>
                <a:latin typeface="Calibri"/>
              </a:rPr>
              <a:t>Block I — Foundations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Randomized Experiments &amp; A/B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D7DEEA"/>
                </a:solidFill>
                <a:latin typeface="Calibri"/>
              </a:rPr>
              <a:t>Designing and analyzing experiments — the cleanest route to causation — and the failure modes that appear at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7F8694"/>
                </a:solidFill>
                <a:latin typeface="Calibri"/>
              </a:rPr>
              <a:t>Week 3   ·   4-credit graduate seminar   ·   theory + assumptions + code + a real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we will cover in Week 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Why randomize?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Random assignment makes treatment independent of the potential outcomes.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Designs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Completely randomized, stratified, and block designs — and covariate balance.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Power &amp; MDE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Sizing a test before you launch; the sample / MDE / power triangle.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Variance reduction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CUPED and covariate adjustment — free power from a pre-period covariate.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Noncompliance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ITT vs. per-protocol, attrition, and the effect on compliers.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Failure modes at scale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Peeking, SRM, interference, and multiple testing online.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The experiment is the cleanest route to causation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Confounding is the central obstacle in observational data — common causes that drive both treatment and outcome.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Randomization removes it by construction: the coin flip has no common cause with the outcome.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So a simple difference in means is already an unbiased causal effect — no graph, no adjustment.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That is why the RCT is the benchmark every other method tries to match.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catch: at scale, the threats move from identification to design, power, and operations.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Design an experiment, size it, analyze it — and learn the specific ways large online tests get fooled.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WHERE THIS 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Experiments vs. observational adjustment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Randomized experiment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Design guarantees exchangeability.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Difference in means is unbiased.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Assumptions are about operations, not graphs.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Gold standard — when feasible and ethical.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Observational 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Must assume no unmeasured confounding.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Needs adjustment, matching, or weighting.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Identification is an untestable argument.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rest of the course — when you can't randomize.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Why randomization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The one-line miracle: assignment independent of the potential outcomes turns a difference in means into a causal effect.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Potential outcomes and selection bias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Each unit has Y(1) and Y(0); the individual effect Y(1) − Y(0) is never both observed.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naive comparison E[Y|Z=1] − E[Y|Z=0] equals the ATE PLUS a selection-bias term.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Selection bias = how the groups differ in Y(0) before treatment — the treated may be sicker, richer, keener.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Adjustment tries to estimate that term; randomization sets it to zero.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The decomposition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naive gap = ATT + (E[Y(0)|Z=1] − E[Y(0)|Z=0]). The second term is selection bias.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Randomize the treatment and Z ⟂ (Y(0), Y(1)): the groups are exchangeable, so E[Y | Z=1] − E[Y | Z=0] = E[Y(1) − Y(0)].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The coin flip shares no common cause with the outcome, so there is no back-door path to block. The design does the identification that observational studies must argue for.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WHAT YOU STILL MUST DEFEND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Randomization is necessary, not sufficient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SUTVA: one unit's outcome depends only on its OWN treatment (no interference).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Consistency: the treatment is well-defined and the same for everyone who gets it.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Full compliance and no differential attrition — or you analyze by intention to treat.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correct assignment mechanism — no leakage, no sample-ratio mismatch.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Reframe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Randomization buys identification. Design and operations buy you a trustworthy estimate.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Designs &amp;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Completely randomized, stratified, and block designs — and how to check that the split came out fair.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THREE WAYS TO ASSIGN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Pick the design that controls the right variance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0520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Completely randomized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Independent coin flip per unit.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Balance holds only on average.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Simple; risk of an unlucky split.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816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8160" y="1920240"/>
            <a:ext cx="35052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104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Stratified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104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Randomize within strata (country, device).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Balanced on strata by construction.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Lower variance for strong predictors.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768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1920240"/>
            <a:ext cx="3505200" cy="6400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056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Block / matched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56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Form similar blocks, randomize inside each.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Tightest balance on blocking variables.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Great for small samples.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Check covariate balance — then leave it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Report standardized mean differences on pre-treatment covariates across arms.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Small SMDs (rule of thumb &lt; 0.1) say the randomization looks healthy.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big imbalance is a flag for a bug or SRM — investigate, don't silently 'adjust it away.'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Pre-specified covariate adjustment for precision is fine; data-dredged adjustment is not.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Balance ≠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Balance on MEASURED covariates is reassuring; randomization also balances the UNMEASURED ones in expectation.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Power, MDE &amp; sample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The three quantities you must pin down before launch — and why you can never solve for all three at once.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Power and the minimum detectable effect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Power = P(reject the null | a true effect of a given size exists). Convention: 0.80.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MDE = the smallest effect your design can reliably detect at your α and power.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Sample size, MDE, and power trade off: fix any two and the third is determined.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Detectable effect shrinks like 1/√n.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Halving the MDE roughly quadruples the sample.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Underpowered ≠ null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non-significant result in a small test means 'we couldn't tell,' not 'no effect.'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SIZING A TWO-PROPORTION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From baseline rate and MDE to a number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Fix the inputs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baseline p₀, MDE, α (e.g. 0.05), power (e.g. 0.80).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Get the z-scores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z_{α/2}=1.96, z_β=0.84 for a two-sided test at 80% power.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Plug in the formula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n per arm ∝ (z-terms)² / (MDE)² — variance over effect, squared.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Sanity-check by simulation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simulate at that n and confirm empirical power ≈ target.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Always verify the formula with a quick simulation — it catches wrong assumptions about the test.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COST OF PRECISION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How n scales with the effect you chase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Lift (MDE)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≈ n per arm (80% power)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+4 pts → 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≈ 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10%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+2 pts → 12%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≈ 3,800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+1 pt → 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≈ 15,000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10%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+0.5 pt → 10.5%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≈ 60,000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Read the pattern:  </a:t>
            </a:r>
            <a:r>
              <a:rPr sz="1400" b="0" i="0">
                <a:solidFill>
                  <a:srgbClr val="222732"/>
                </a:solidFill>
                <a:latin typeface="Calibri"/>
              </a:rPr>
              <a:t>Each halving of the MDE roughly quadruples the sample. Small effects are expensive — decide what's worth detecting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Variance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CUPED and covariate adjustment: use a pre-period covariate to buy precision without touching the estimate.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CUPED — controlled experiment using pre-experiment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Subtract the predictable part of the outcome using a PRE-treatment covariate (often the same metric, pre-period).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Y_cuped = Y − θ (X_pre − mean), with θ = Cov(Y, X_pre) / Var(X_pre).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Because X_pre is pre-treatment, it is balanced across arms — the estimate stays unbiased.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Variance drops by roughly the squared correlation; SE reductions of 30–50% are common.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Free power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smaller SE is equivalent to a larger sample. You reach the same MDE faster, for free.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TWO ROUTES TO THE SAME 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CUPED vs. regression adjustment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0520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CUPED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Transform the outcome, then difference in means.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θ from the pre-period covariate.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Standard at large tech firms.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816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8160" y="1920240"/>
            <a:ext cx="35052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104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Covariate-adjusted 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104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Regress Y on Z plus pre-treatment covariates.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Coefficient on Z is the adjusted ATE.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Equivalent gain; identical logic.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768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1920240"/>
            <a:ext cx="3505200" cy="6400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056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The one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56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Covariates must be PRE-treatment.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Post-treatment controls reintroduce bias.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Pre-specify them to avoid fishing.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Noncompliance &amp; attrition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Real experiments leak. Intention-to-treat keeps the randomization; per-protocol throws it away.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TWO WAYS TO ANALYZE A LEAKY TRIAL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ITT vs. per-protocol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Intention-to-treat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Analyze by ASSIGNMENT.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Randomization intact → unbiased for the OFFER effect.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Diluted toward zero by noncompliance.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policy-relevant number.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Per-protocol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Analyze by treatment RECEIVED.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Compliers differ from non-compliers.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Randomization broken → generally biased.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Tempting but confounded.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RECOVERING THE COMPLIERS'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Scale ITT by the compliance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Under one-sided noncompliance, CACE = ITT / (share who comply when assigned).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This is the instrumental-variables estimand with assignment as the instrument.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It identifies the effect on COMPLIERS, not the whole population.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We formalize instruments and the LATE in Week 9.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Attrition too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Differential dropout reintroduces selection. Track it, report it, and bound its impact.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When people don't comply, ITT answers a real question — what happens if we OFFER the treatment — even though it isn't the effect of taking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Per-protocol answers a question you didn't randomize, so it usually answers it wrong. Report ITT; estimate the compliers' effect with an instrument.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How A/B tests get fooled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Peeking, sample-ratio mismatch, interference, and multiple testing — the operational failure modes of online experiments.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FAILURE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Peeking inflates the false-positive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Checking the p-value repeatedly and stopping at the first 'significant' look is multiple testing across time.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Each look is another chance for a true null to cross the threshold by luck.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Daily peeking can push the false-positive rate from 5% to 20–30%.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Fix: fix n in advance and look once, OR use sequential / always-valid methods.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The discipline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Pre-register the sample size and the stopping rule. Don't let the dashboard decide when to stop.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FAILURE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Sample-ratio mismatch (SRM) — a hard stop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Intended 50/50 but the observed split fails a chi-square test against the target ratio.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Almost always a bug: assignment, logging, filtering, redirect latency, or bots.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arms are no longer comparable — any effect estimate is suspect.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Do not ship. Find the cause and re-run; an SRM invalidates the test.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Check it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An SRM check should be the first thing you run, before you ever look at the metric.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FAILURE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Interference breaks SUTVA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One unit's treatment affects another's outcome — network effects, shared marketplace supply, congestion.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Treated users can degrade (or boost) the control group, contaminating the counterfactual.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naive difference then over- or under-states the true effect.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Designs: cluster randomization (whole markets), switchback (time-based) tests, equilibrium models.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The tell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If treatment changes a shared resource, your control group is no longer a clean baseline.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FAILURE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Many metrics, many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Online tests track dozens of metrics; at α=0.05, false positives accumulate fast.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Twenty independent null metrics give a ~64% chance of at least one 'significant' hit.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Pre-declare one primary metric; treat the rest as exploratory.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Correct for multiplicity (e.g. Bonferroni, FDR) when you must test many.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Discipline beats cleverness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pre-registered primary metric is the single best defense against fooling yourself.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Two real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A large-scale technology A/B test and a randomized field experiment — the same logic, very different operations.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CASE A · A LARGE ONLINE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Shipping a UI change to millions of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Design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50/50 randomization by user; pre-declare the primary metric and the sample size.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Guardrails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run an SRM check, monitor interference and latency, apply CUPED for power.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Analyze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difference in means with a CI on the primary metric; no peeking — wait for 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Decide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ship only if the primary metric clears the bar and guardrails hold.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Most of the trustworthiness comes from design and guardrails, not from a fancier estimator.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CASE B · A RANDOMIZED FIELD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An agricultural trial across many plots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Block the plots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group by field / soil / region, then randomize treatment within each block.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Why block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soil and weather dominate yield; blocking removes that variance and guarantees balance.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Watch spillover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fertilizer or pests can cross plot boundaries — interference, so use buffer rows.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Analyze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difference in means within blocks; report the effect with its CI.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Fisher's agricultural trials are where randomization and blocking were invented — the ideas long predate the web.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SAME LOGIC, DIFFERENT THREATS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Where the risk lives in each setting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Concern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Online A/B test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Field experiment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User /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Plot / village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Main threat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Peeking, SRM, interference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Spillover, attrition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Variance trick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CUPED on pre-period 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Blocking by field/region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Compliance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Exposure logging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Take-up of the program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Design the test, size it, run an SRM check, look once, and report ITT with a confidence interval.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This week: size a real test, simulate it, recover the truth with a difference in means, cut variance with CUPED, and watch peeking inflate your error rate. See you in the lab.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