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CAUSAL INFERENCE IN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9728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 i="0">
                <a:solidFill>
                  <a:srgbClr val="5B9BD5"/>
                </a:solidFill>
                <a:latin typeface="Calibri"/>
              </a:rPr>
              <a:t>Block II — Adjustment for confounding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Matching &amp; Propensity Scores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9768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D7DEEA"/>
                </a:solidFill>
                <a:latin typeface="Calibri"/>
              </a:rPr>
              <a:t>Recreating a randomized comparison by balancing the covariate distributions of treated and control units.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6692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7F8694"/>
                </a:solidFill>
                <a:latin typeface="Calibri"/>
              </a:rPr>
              <a:t>Week 6   ·   4-credit graduate seminar   ·   theory + assumptions + code + a real case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What we will cover in Week 6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539496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F6DB5"/>
                </a:solidFill>
                <a:latin typeface="Calibri"/>
              </a:rPr>
              <a:t>The matching idea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Rebuild a randomized comparison by balancing covariates.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F6DB5"/>
                </a:solidFill>
                <a:latin typeface="Calibri"/>
              </a:rPr>
              <a:t>Propensity score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e(X) = P(D|X) and its balancing property.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F6DB5"/>
                </a:solidFill>
                <a:latin typeface="Calibri"/>
              </a:rPr>
              <a:t>Flavors of matching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Exact, coarsened, nearest-neighbor — and the knobs.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920240"/>
            <a:ext cx="539496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F6DB5"/>
                </a:solidFill>
                <a:latin typeface="Calibri"/>
              </a:rPr>
              <a:t>Balance &amp; overlap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SMDs, love-plots, common support, trimming.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F6DB5"/>
                </a:solidFill>
                <a:latin typeface="Calibri"/>
              </a:rPr>
              <a:t>Estimand &amp; inference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ATT vs ATE, and why naive SEs are wrong.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F6DB5"/>
                </a:solidFill>
                <a:latin typeface="Calibri"/>
              </a:rPr>
              <a:t>The LaLonde case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Can matching recover the experimental benchmark?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WHERE WE 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Block II: adjustment for measured confounders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Last week: regression and control — adjust by modeling the outcome.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This week: matching &amp; the propensity score — adjust by balancing the groups.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Both assume unconfoundedness: (Y(0), Y(1)) ⟂ D | X for measured X.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Different tool, same target: remove confounding by measured covariates.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Next week: weighting &amp; doubly robust — combine both, get a safety net.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The assumption that powers all of Block 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Unconfoundedness + positivity. If a confounder is not in X, no amount of matching can save you — that is what Block III is for.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18872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0" b="1" i="0">
                <a:solidFill>
                  <a:srgbClr val="E9A23B"/>
                </a:solidFill>
                <a:latin typeface="Calibri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19456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Matching is a design step you can check before you ever look at the outcome.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93776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1">
                <a:solidFill>
                  <a:srgbClr val="C7D2E2"/>
                </a:solidFill>
                <a:latin typeface="Calibri"/>
              </a:rPr>
              <a:t>Balance is judged on covariates alone. That separation — design first, outcome later — is what keeps matching honest and hard to fool yourself with.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The matching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If treated and control units had the same covariate distribution, comparing their outcomes would be like a trial. So build a comparison group that does.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INTUITION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Compare like with like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 naive treated−control difference mixes the treatment effect with pre-existing differences.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Idea: for each treated unit, find control unit(s) with the same covariates.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Within matched sets, X is balanced, so the outcome gap is (closer to) the causal effect.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It is non-parametric in the outcome — no assumption that Y is linear in X.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You check the design (balance) before touching the outcome.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Why not just regress?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Matching makes the comparison transparent and flags where there is simply no comparable control — regression silently extrapolates there.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WHY WE NEED A 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Exact matching breaks in high dimensions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Exact matching pairs units with identical covariates — perfect when X is a few discrete variables.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With many covariates, almost no two units match exactly: the curse of dimensionality.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Coarsened matching bins continuous covariates — a partial fix.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The propensity score solves this by collapsing all of X into a single number to match 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The pivot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Instead of matching on many covariates at once, match on one scalar that summarizes them all — next.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TWO WAYS TO ADJUST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Regression vs. matching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539496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5394960" cy="640080"/>
          </a:xfrm>
          <a:prstGeom prst="rect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Regression (Week 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50292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Models E[Y | D, X] and reads off the D coefficient.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Extrapolates into regions with no overlap.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Leans on a functional form for 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920240"/>
            <a:ext cx="539496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920240"/>
            <a:ext cx="5394960" cy="6400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029968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Matching (this week)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743200"/>
            <a:ext cx="50292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Builds a comparison group balanced on X.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Makes lack of overlap visible and refusable.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Non-parametric in the outcome; check balance first.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The propensity score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Rosenbaum &amp; Rubin's trick: collapse the whole covariate vector into one number you can match 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e(X) = P(D = 1 | X)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The propensity score is the probability of treatment given covariates.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Estimate it — logistic regression is the standard first choice.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It is a one-dimensional summary of all confounders in X.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Curse of dimensionality: exact matching on many covariates is hopeless; one score is tractable.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Judge it by balance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A good PS model is one that BALANCES covariates — not one with high classification accuracy. Different goal.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THEOREM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The balancing property: X ⟂ D | e(X)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Given the propensity score, covariates carry no extra info about treatment.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So within a thin band of e(X), treated and control X look alike — a mini-randomized block.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Conditioning on the scalar e(X) removes the same bias as conditioning on all of X.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Match, stratify, or weight on e(X) — all exploit this one fact.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What it does NOT 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It only balances MEASURED X. Unmeasured confounders are untouched — the propensity score is not magic.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ESTIMATING E(X)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How to fit the propensity score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Usually logistic regression of treatment on the covariates (and sensible interactions / splines).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Flexible learners (gradient boosting, random forests) can help with many covariates.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Judge the model by the BALANCE it produces, not by its own fit/AUC.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 high-AUC score that creates poor overlap is worse than a modest one that balances well.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Iterate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Fit → match/weight → check balance → revise the score. Balance, not prediction accuracy, is the target.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18872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0" b="1" i="0">
                <a:solidFill>
                  <a:srgbClr val="E9A23B"/>
                </a:solidFill>
                <a:latin typeface="Calibri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19456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The propensity score is a means to balance, not an end.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93776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1">
                <a:solidFill>
                  <a:srgbClr val="C7D2E2"/>
                </a:solidFill>
                <a:latin typeface="Calibri"/>
              </a:rPr>
              <a:t>You never interpret its coefficients. You fit it, match or weight on it, and then check whether the covariates actually balanced. If they didn't, change the model.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Flavors of matching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From perfect-but-infeasible exact matching to the nearest-neighbor workhorse — plus the knobs that trade balance against sample size.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A MENU OF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Matching methods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064240" cy="2286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How it pairs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Trade-off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Exact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Identical covariate values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Perfect balance; infeasible with continuous 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Coarsened exact (CEM)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Identical coarse bins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Tunable balance vs. retained sample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NN on the 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Closest propensity 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Practical; balance depends on the PS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Caliper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Closest PS within a max distance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Drops bad matches; can change the estimand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71500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A9D8F"/>
                </a:solidFill>
                <a:latin typeface="Calibri"/>
              </a:rPr>
              <a:t>Default:  </a:t>
            </a:r>
            <a:r>
              <a:rPr sz="1400" b="0" i="0">
                <a:solidFill>
                  <a:srgbClr val="222732"/>
                </a:solidFill>
                <a:latin typeface="Calibri"/>
              </a:rPr>
              <a:t>1:1 nearest-neighbor on the estimated PS is the standard starting point — then refine with calipers or 1:k.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KNOBS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Calipers, 1:k, and replacement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Caliper: refuse a match if the PS distance exceeds a cap (often 0.2 × SD of the logit).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1:k matching: use k controls per treated unit — less variance, possibly worse balance.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With replacement: reuse the best controls — better balance, but matched units are dependent.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Every knob trades bias (balance) against variance (effective sample size).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No free lunch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Tighter calipers and 1:1 improve balance but shrink the sample. There is no setting that wins on every axis.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Balance, overlap, and trimming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After matching you audit the design: did the covariates actually balance, and is there a region where the groups simply do not overlap?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DIAGNOSTIC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Standardized mean difference (SMD)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SMD = (mean_treated − mean_control) / pooled SD, per covariate.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Scale-free, so you can compare age, income, and test scores on one axis.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Rule of thumb: |SMD| &lt; 0.1 is well balanced; 0.1–0.2 is marginal.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Unlike a p-value it does not get 'better' just because n is large.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Love-plot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Plot each covariate's SMD before vs after matching. Points should march from the right (imbalanced) to near zero.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POSITIVITY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Common support / overlap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Positivity: 0 &lt; e(X) &lt; 1 for every covariate profile — both treatments are possible.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Plot the PS distributions by group: where they don't overlap, there are no comparable units.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Trimming drops the non-overlap region to restore comparability.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But trimming changes the population — you now estimate the effect for the trimmed sub-group.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Honest refusal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Where there is no overlap, the data cannot answer the question. Trimming makes that refusal explicit instead of extrapolating.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WHICH EFFECT ARE WE EVEN ESTIMATING?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ATT vs. ATE under matching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539496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5394960" cy="640080"/>
          </a:xfrm>
          <a:prstGeom prst="rect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ATT — effect on the treated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1">
                <a:solidFill>
                  <a:srgbClr val="2F6DB5"/>
                </a:solidFill>
                <a:latin typeface="Calibri"/>
              </a:rPr>
              <a:t>E[Y(1)−Y(0) | D=1]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50292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Match a control to each treated unit.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Needs overlap only on the treated side.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The natural matching estimand.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920240"/>
            <a:ext cx="539496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920240"/>
            <a:ext cx="5394960" cy="6400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029968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ATE — effect on everyone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6974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1">
                <a:solidFill>
                  <a:srgbClr val="2A9D8F"/>
                </a:solidFill>
                <a:latin typeface="Calibri"/>
              </a:rPr>
              <a:t>E[Y(1)−Y(0)]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200400"/>
            <a:ext cx="50292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Also needs a treated match for each control.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Requires two-sided overlap.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More fragile where a group is rare.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Inference after matching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The estimate is the easy part. Getting an honest standard error is where most applied matching analyses go wrong.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TRAP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Why naive post-matching SEs are too small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The propensity score was estimated from the same data — that uncertainty is ignored.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Matching is itself random; treating the matched sample as fixed understates variance.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With replacement, controls are reused, so matched units are dependent, not i.i.d.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Matched-pair counts are random too — a paired t-test is not enough.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Symptom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Confidence intervals that are implausibly tight and 'significant' results that don't replicate.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WHAT TO DO INSTEAD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Valid inference after matching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201168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1168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Abadie–Imbens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a matching-aware variance estimator built for this design.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8036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88036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88036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Full-pipeline bootstrap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resample, then REFIT the PS, rematch, and re-estimate each time.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74904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74904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74904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Go doubly robust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pair matching/weighting with an outcome model; proper SEs (Week 7).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7F8694"/>
                </a:solidFill>
                <a:latin typeface="Calibri"/>
              </a:rPr>
              <a:t>The fix is to make inference account for the design — not to patch a formula that assumed i.i.d. data.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The LaLonde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A famous stress test: can observational matching recover the answer from an actual randomized experiment?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CASE STUDY · NSW VS. PSID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Does matching recover the experimental benchmark?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201168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1168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The experiment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The NSW job-training trial randomized treatment → a credible benchmark ATT (~$1,800).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8036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88036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88036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Swap the controls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Replace the randomized controls with a PSID survey sample — now it is observational.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74904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74904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74904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Naive comparison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Trainees look far worse: the PSID controls are richer and very different on covariates.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61772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61772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61772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Match on the PS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With good overlap and balance, matching moves the estimate back toward the experimental benchmark.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7F8694"/>
                </a:solidFill>
                <a:latin typeface="Calibri"/>
              </a:rPr>
              <a:t>Dehejia &amp; Wahba (1999) revived the method; Smith &amp; Todd (2005) showed it is fragile to specification and overlap. Both lessons matter.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HONEST CAVEAT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Matching only fixes what you measured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Perfect covariate balance still leaves UNMEASURED confounders untouched.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Matching makes the no-unmeasured-confounding bet visible — it does not make it true.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This is the same assumption regression needs; matching just states it honestly.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When you doubt it, reach for a design (IV, RD, DiD) — Block III.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Bridge to sensitivity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Week 7 adds weighting &amp; double robustness; Week 14 asks how strong an unmeasured confounder would have to be (E-values).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When does matching work?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539496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5394960" cy="640080"/>
          </a:xfrm>
          <a:prstGeom prst="rect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It can recover the benchmark when…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50292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The key confounders are measured (e.g. earnings history).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There is real overlap in covariates.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Balance is achieved and checked.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920240"/>
            <a:ext cx="539496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920240"/>
            <a:ext cx="5394960" cy="6400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029968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It fails when…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743200"/>
            <a:ext cx="50292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Important confounders are unmeasured.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The groups barely overlap.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You skip balance checks and trust the PS model blindly.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18872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0" b="1" i="0">
                <a:solidFill>
                  <a:srgbClr val="E9A23B"/>
                </a:solidFill>
                <a:latin typeface="Calibri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19456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Estimate the PS → match → check balance → estimate the effect → question your 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93776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1">
                <a:solidFill>
                  <a:srgbClr val="C7D2E2"/>
                </a:solidFill>
                <a:latin typeface="Calibri"/>
              </a:rPr>
              <a:t>That is the whole workflow. In lab you will run it end-to-end on simulated data with a known ATT and watch a badly biased difference snap back to the truth.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