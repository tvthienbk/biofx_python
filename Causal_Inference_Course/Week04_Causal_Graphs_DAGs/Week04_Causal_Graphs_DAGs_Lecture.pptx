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 — Foundations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Causal Graphs (DAGs)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A visual algebra for assumptions: read confounders, colliders, and mediators directly off the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4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Nodes, edges, paths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vocabulary of a causal graph and what an arrow claims.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Three local shapes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Chain, fork, collider — and the way each transmits association.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d-separation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master rule for when a path is open or blocked.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Back-door &amp; front-door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Reading a valid adjustment set straight off the graph.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Testable implications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How a DAG predicts independencies — and can be falsified.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Build &amp; apply a DAG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Smoking → CVD, end to end, from domain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DAG is your assumptions, made visible and arguable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Last week: confounder / mediator / collider as a checklist. This week: the algebra that generates the checklist.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graph makes assumptions explicit — collaborators can point at an arrow and disagree.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Arrows present = claimed direct cause.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Arrows absent = claimed NO direct cause (often the stronger claim).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From the picture alone, the right adjustment set becomes a mechanical read-off, not a judgment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Draw the graph once; it answers 'what do I control for?' and 'is the effect even identifiable?' for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Nodes, edges, and what 'acyclic' buys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Nodes are variables; a directed edge X → Y means X is a DIRECT cause of 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path is any chain of edges between two nodes, ignoring arrow direction.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Directed (arrows) + Acyclic (no loops) = a consistent time order; nothing causes itself.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Unobserved variables get drawn too (dashed) — they're assumptions, not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Path ≠ causal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path can run against arrows. Only paths that follow arrows tip-to-tail are CAUSAL paths.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three local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Every path is built from chains, forks, and colliders. Learn these three triples and you can read any 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Chain, fork, collider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A → B →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 is a mediator.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Open by default.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 on B → BLOCKS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Carries causal flow A to 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A ← B →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 is a common cause.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Open by default.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 on B → BLOCKS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back-door / confounding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COLLIDER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A → B ←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 is a common effect.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BLOCKED by default.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 on B → OPENS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rule reverses here.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a collider behaves backwards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→ B ← C: A and C are two independent causes funneling into B.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Learn B's value and the causes must 'trade off' to explain it — so they become dependent.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Grass is wet (the collider): learning it rained makes the sprinkler less likely — one cause explains the effect away.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Conditioning on a DESCENDANT of B opens it too — selection 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Explaining away: given the common effect, evidence for one cause is evidence against the other.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Chains and forks: conditioning CLOSES. Colliders: conditioning OPENS.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single asymmetry is the source of nearly every subtle mistake in applied causal work — and the reason 'control for everything' backfires.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d-separation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master rule that turns a graph into a list of conditional independencies you can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When is a path blocked?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path is BLOCKED given Z if ANY triple on it is blocked.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Chain A→B→C or fork A←B→C: blocked when B ∈ Z.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Collider A→B←C: blocked when B ∉ Z AND no descendant of B is in Z.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and Y are d-separated by Z if EVERY path between them is blocked.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d-separated by Z ⇒ X ⊥ Y | Z in any distribution that factorizes over the graph.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HOW TO CHECK A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Walk the path, triple by triple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List the path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write the nodes in order from X to 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Find each triple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is the middle node a chain, fork, or collider?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Apply the rule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chain/fork blocked if in Z; collider blocked if it (and its descendants) are out of Z.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Verdict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one blocked triple blocks the whole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Repeat for every path. All blocked ⇒ conditional independence.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RULE ON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Open vs. blocked, by triple and conditioning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Triple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Middle node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Not in Z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 Z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Chain  A→B→C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mediator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Fork  A←B→C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confounder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Collider  A→B←C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common 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…descendant of collider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downstream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Read across: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The collider rows are the mirror image of the others — that's the whole subtlety.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Back-door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From d-separation to a recipe: which variables to adjust for so a regression estimates the causal effect.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BACK-DOOR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Block every path that sneaks in through the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back-door path from X to Y starts with an arrow INTO X (e.g. X ← Z → Y).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These carry non-causal association — confounding — that biases X → 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Adjustment set Z is valid if it blocks all back-door paths AND contains no descendant of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adjusting for Z (stratify / regress / weight) identifies the effect.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Two clauses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(1) block every back-door path; (2) include no descendant of X. Both are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CHOOSING THE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Valid, minimal, and what to never include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Often several sets are valid — prefer a MINIMAL one (no redundant variables).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Never include a mediator (on the X→Y path): it blocks the effect you want.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Never include a collider: conditioning opens a new biasing path.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Pre-treatment ≠ safe — an M-bias collider can be pre-treatment.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Smaller is safer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Each extra control is a chance to accidentally open a path. Adjust for what the DAG requires, no more.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GOOD, THE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Adjust for these — not those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DO adjust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confounders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Common causes of X and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Block open back-door forks.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← Z → Y: condition on 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DON'T adjust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mediators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Nodes on the X → Y path.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Removes part of the effect.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→ M → Y: leave M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NEVER adjust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colliders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Common effects of X and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Opens a spurious path.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→ K ← Y: keep K out.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Front-door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When every back door is jammed by an unmeasured confounder, a clean mediator can still identify the effect.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Identification when no back-door set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Unmeasured U confounds X and Y, so NO measured set blocks the back door.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a measured mediator M sits on the only causal path X → M → 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 does not touch M — so X → M is unconfounded, and M → Y is confounded only by X (which we measure).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Chain the two clean sub-effects to recover X → 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Canonical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Smoking → Tar → Lung damage, with a hidden genotype confounding smoking and damage but not tar.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the front-door estimate is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Stage 1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estimate X → M (no back-door into M; clean).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Stage 2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estimate M → Y adjusting for X (closes M's back-door).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Combine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sum the chained effect over the distribution of 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The effect is identified WITHOUT ever measuring the confounder 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DOORS, TWO SITUATIONS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Back-door vs. front-door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Back-door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Block confounding paths directly.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Needs the confounders MEASURED.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default, most common tool.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Front-door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Route identification through a mediator.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Works with the confounder UNMEASURED.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Rare but powerful; strict assumptions.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Testable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DAG is a falsifiable model: every missing arrow is a prediction the data can refute.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FALSIFYING A DAG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Missing edges make checkable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absent edge ⇒ a conditional independence implied by d-separation.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Test it: the relevant partial correlation / coefficient should be ≈ 0.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clear violation means an assumed-missing arrow is actually present — the DAG is wrong.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Caveat: equivalent DAGs share implications, so tests support but never uniquely prove a 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Honest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DAGs aren't 'just opinion' — they state the opinion AND its refutable consequences.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Implications of Z → X → Y (no Z→Y edge)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Path Z to 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Implication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Marginal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Z → X → Y (open chain)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Z and Y ASSOCIATED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Given X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chain blocked at X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Z ⊥ Y | X  (test this)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If it 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Z still predicts Y |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missing Z→Y edge exists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The test: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Regress Y on X and Z; coefficient on Z ≈ 0 supports the DAG, ≠ 0 falsifies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Building a DAG from domain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structured workflow: list variables, draw causes by time order, mark the unobserved, then read off the analysis.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FROM KNOWLEDGE TO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to build a DAG you can defend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Enumerate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list the exposure, outcome, and every plausibly relevant variable.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Order in time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earlier causes later; this rules out cycles.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Draw causes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add an arrow only for a DIRECT effect you'd defend.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Mark unknowns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include suspected unmeasured confounders (dashed).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Read off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adjustment set + testable implications fall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Domain knowledge goes IN as arrows; identification comes OUT for free.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EPIDEMIOLOGY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Smoking → cardiovascular disease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Exposure Smoking, outcome CVD. Age causes both (confounder: Smoking ← Age → CVD).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Blood pressure is a mediator: Smoking → BP → CVD (plus a direct Smoking → CVD).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Hospitalization is a collider: Smoking → Hosp ← CVD — never condition on 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Total effect ⇒ adjust for {Age} only; leave BP and Hosp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One graph, three lessons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confounder to adjust, a mediator to leave, a collider to avoid — all in five nodes.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READING THE SMOKING DAG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Each node's role and the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Adjust for it?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confounder (fork)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 — closes back door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Blood pressure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mediator (chain)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 — it's the effect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Hospitalized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collider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Never — opens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Genotype (unobs.)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possible confounder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Can't — consider front-door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Testable implication: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Age ⊥ BP | Smoking — the lab tests exactly this on simulated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This week's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Problem Set 3 trains your eye; Lab 2 takes a DAG all the way to a verified adjustment set.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PROBLEM SET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d-separation &amp; adjustment 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Classify paths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list and label every path as open or blocked.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Find the set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minimal valid back-door adjustment set.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Spot the collider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variable you must NOT condition 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Front-door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identify an effect when the back door is closed.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Falsify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state a testable conditional independence.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Work from the DAG, not the data — that is the whole skill.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LAB 2 · ENCODE A DAG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From a drawing to a defensible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Encode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DAG as edges (Python) or dagitty (R).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List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conditional independencies it implies.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Test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one implication against simulated data.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Read off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valid back-door adjustment 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You'll verify Age ⊥ BP | Smoking and recover {Age} as the adjustment 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Draw the graph; the analysis follows.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Next week we cash in the adjustment set: regression and control, what a coefficient really estimates, and how bad controls sneak back in. See you in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