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IV — Modern methods &amp; 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Capstone, Reproducibility &amp;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Put it together: a defensible, reproducible causal analysis you can explain to a decision-maker.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15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Week 15 — the capstone,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Choosing a design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Let the question and the data pick the method, not your taste.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Pre-analysis plans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Close the garden of forking paths before you see the outcome.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Robustness &amp; multiverse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Survive the analyses you did not run; bound the unmeasured.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Reproducible pipelines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One command, fixed seed, logged environment, Quarto + Git.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Communicating effects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Effect, uncertainty, caveat — in three honest sentences.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Ethics + your capstone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causal claim licenses action. Then: present and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Fifteen weeks come down to one defensible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 have the estimators: RCTs, matching, weighting, IV, RD, DiD, synthetic control, DML, heterogeneous effects.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capstone adds no new method — it adds the discipline that makes any of them trustworthy.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The deliverable is a report + presentation: a real question, answered defensibly.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Today: how to choose, pre-commit, stress-test, reproduce, and communicate — then present and peer-review.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One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causal claim is only as good as its design, its stated assumptions, the checks it survives, and the honest sentence you can say to whoever must act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No new estimator today — only the difference between a number and a number someone can act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 capstone is the course compressed into one workflow: Question → Assume → Identify → Estimate → Validate, done for real and explained to a human.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Choosing 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There is no best method — only the most credible design given the estimand and the assignment mechanism you actually have.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START FROM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Design follows the estimand, not your taste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First write the estimand: contrast, population, outcome, horizon.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ask how treatment was assigned — that mechanism picks the credible designs.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Method beauty is irrelevant; identification credibility is everything.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Always name your SECOND-best design and why you rejected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capstone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If you can't name the second-best design and say why it loses, you don't yet know why the first is credible.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From what you observe to a credible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3200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If you have…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Reach for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It identifies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Randomized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RCT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the ATE, by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Random encouragement / instrument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IV / MR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 LATE (compliers)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Threshold on a running 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 local effect at the cutoff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 policy date + comparators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DiD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ATT under parallel trends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One treated unit + donors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Synthetic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ATT vs. a synthetic twin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Rich confounders, good overlap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Matching / DML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ATE/ATT under exchangeability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Fallback ladder: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Adjustment (matching/DML) sits at the bottom: use it when no design-based option is available, and treat it as a benchmark.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HONEST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would make each design fail?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Design-based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RCT · IV · RD · DiD · 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Leans on the assignment mechanism.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Fails via: weak instrument, cutoff manipulation, non-parallel trends.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Probe with placebo / pre-trend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Adjustment-based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Matching · weighting · DML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Leans on no-unmeasured-confounding + overlap.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Fails via: a confounder you never measured.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Probe with sensitivity analysis (E-value).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garden of forking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You can fool yourself without ever 'p-hacking' — every analysis you would have run is a comparison you never see.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GELMAN &amp; LOKEN (2014)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Researcher degrees of freedom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Covariates, subgroups, outcome coding, outlier rules — each a fork.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your choice would differ had the data differed, your p-value is no longer honest.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bites even on a single analysis you ran exactly once.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The fix is procedural, not statistical.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one analysis still 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multiple comparisons are the paths you WOULD have taken — invisible, but still counted against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REMEDY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pre-analysis plan, minimal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Estimand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contrast, population, outcome, horizon, fixed before unblinding.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Model &amp; set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estimator and adjustment set, pre-specified.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Primary outcome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one, named; the rest are secondary.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Decision rule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what result triggers what conclusion.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Exploration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allowed, but labeled and confirmed out-of-sample.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Anything decided after seeing Y is exploratory — flag it as such.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MODES OF INQUIRY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Confirmatory vs. exploratory — both are fine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Confirmatory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Pre-registered estimand and model.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Controls error rates honestly.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is what your headline claim rests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Exploratory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Discovered after looking at outcomes.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Generates hypotheses, not conclusions.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Must be labeled and confirmed on new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Robustness, multiverse &amp;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result you trust is one that survives the reasonable analyses you did not run — and tells you what would overturn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MULTIVERSE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Report a distribution, not a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Loop over the grid of defensible specifications — adjustment sets, functional forms, codings.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Plot the spread of estimates; pre-commit which specs are primary.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result that holds in 1 of 32 specs is about your luck, not the world.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Specs that include the true confounder cluster on the truth; omitting it drifts away.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Honesty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Show the messy multiverse. Hiding it is the forking-paths problem wearing a lab coat.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strong must a hidden confounder be?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Don't argue about whether unmeasured confounding exists — quantify how strong it would have to be.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E-value: the minimum confounder–exposure and confounder–outcome association needed to explain the effect away.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Benchmark it against the strongest confounder you already measured.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Big E-value = the skeptic needs an implausibly strong hidden cause.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Bias, bounded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Sensitivity analysis turns 'but what about confounding?' from a conversation-ender into a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DESIGN-BASED STRESS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Checks that try to break your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Negative-control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 outcome the treatment cannot affect.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it 'shows an effect', your design leaks.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Placebo / pre-trend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pre-period that should be flat (DiD).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non-effect that should be zero (RD).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Movement here = a warning.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Refutation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Add a random common cause; drop a subset.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robust estimate barely moves.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Reproducible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If a colleague can't rebuild your numbers with one command, you have an anecdote, not a result.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A REBUILD REQUIRES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One command, fixed seed, logged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Fix the seed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np.random.default_rng(7) / set.seed(7), set once, passed around.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Pin the environment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requirements.txt / renv.lock; capture pip freeze / sessionInfo().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Version everything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Git for code, raw data, and the report source.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One command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make all / quarto render rebuilds clean → estimate → check →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Same input + same code + same seed + same environment = same output. That is the whole definition.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REPO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Structure that makes results disposable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data/raw/ is read-only; data/clean/ is generated and never edited by hand.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Numbered scripts: 01_clean → 02_estimate → 03_robustness, handing off through files.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report.qmd imports saved estimates and figures and narrates the workflow.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Everything in results/ is regenerable — that is the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Quarto +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Quarto renders code + prose + results into one document; Git makes every input and version recoverable.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'Works on my machine' becomes a result only when the machine, the seed, and the versions travel with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Capture the environment into the report itself. Future you, and your reviewers, will need exactly that 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Communicating effects &amp;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If the decision-maker can't understand the effect, the analysis changes nothing — communication is part of the claim.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THREE-SENTENCE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Effect, uncertainty, caveat — no jargon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effect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in the stakeholder's units: 'about $480 lower per enrollee.'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uncertainty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plausible range: 'reasonably $200 to $760.'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caveat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assumption that would change the answer, said plainly.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No p-values, no 'statistically significant' — a number, a range, and the load-bearing assumption.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HOW EFFECTS GO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Two failure modes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Overclaiming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the common 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Point estimate stated as certainty.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Caveats buried or dropped.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Transfers your risk onto the decider.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Drowning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the timid 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Every caveat, no headline.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Uncertainty without a recommendation.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Leaves the decider with nothing to 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SHOW THE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Visualize intervals, not just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Plot the effect with its confidence interval, in real units.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Show the multiverse spread so robustness is visible at a glance.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Translate to consequences: cost, lives, conversions — what they decide 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Lead with the answer; let the method live in an appendix.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Audience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Technical appendix for reviewers; one chart and three sentences for the decision-maker.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Ethics &amp; your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 causal claim licenses action — state your uncertainty and assumptions as loudly as your point estimate.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ETHICS OF CAUSAL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Someone will act on your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causal claim can move a treatment, a price, or a policy.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Overclaiming is not optimism — it transfers your risk onto people who trusted you.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State assumptions and uncertainty in proportion to the stakes.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Reproducibility is an ethical practice, not just a tidy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Be as loud about what could be wrong as about what you found.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CAPSTONE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you submit, and how it's reviewed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report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estimand, design, estimate, robustness, sensitivity, reproducible repo.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presentation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opens with the three-sentence summary; method in the appendix.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Peer review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attack the weakest assumption; try to break the result.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Revise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address the review; reproducibility makes revision one command.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The peer review is not adversarial theater — it is the stress test your result must survive before the world runs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Question → Assume → Identify → Estimate → Validate — now do it for something that matters, and earn the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There is no Week 16: from here the syllabus is the world. Keep a reproducible repo, stay honest about what the data can answer, and go do causal inference in practice.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