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CAUSAL INFERENCE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5B9BD5"/>
                </a:solidFill>
                <a:latin typeface="Calibri"/>
              </a:rPr>
              <a:t>Block III — Quasi-experimental designs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Instrumental Variables &amp; Mendelian Randomization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D7DEEA"/>
                </a:solidFill>
                <a:latin typeface="Calibri"/>
              </a:rPr>
              <a:t>When the confounder can't be measured, find a valve that moves treatment and nothing else.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7F8694"/>
                </a:solidFill>
                <a:latin typeface="Calibri"/>
              </a:rPr>
              <a:t>Week 8   ·   4-credit graduate seminar   ·   theory + assumptions + code + a real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we will cover in Week 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The unmeasured-confounder problem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When adjustment cannot save you — and what an instrument offers instead.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The four IV assumptions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Relevance, exclusion, independence, monotonicity — two testable, two faith.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2SLS &amp; the Wald estimator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Two OLS stages; why the fitted first stage purges the confounder.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LATE &amp; the compliers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Whose effect an instrument actually identifies.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Weak instruments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The first-stage F and the high-variance, OLS-biased trap.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Mendelian randomization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Genotype as a natural instrument — and pleiotropy, its Achilles heel.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MIDTERM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Housekeeping: the midterm covers Weeks 1–7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in-class midterm spans Block I and Block II (Weeks 1–7).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Block I: causal question, potential outcomes, randomization, DAGs.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Block II: regression, matching &amp; propensity, weighting &amp; doubly-robust.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Expect to label confounders/colliders/mediators, write an estimand, and reason about identification vs estimation.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Today's new material (IV/MR) is NOT on the midterm — but it builds directly on the confounding logic you are reviewing.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Lab 5 (2SLS + MR) is due alongside the exam.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Review 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Re-run your Week 1–7 notebooks. If you can reproduce the naive-vs-adjusted gap and the propensity-weighting recovery from memory, you are ready.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Block III opens: designs, not adjustment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Blocks I–II assumed the confounders were measured and we could adjust our way to a causal effect.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Block III tackles the harder case: a confounder we cannot measure at all.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move is from ADJUSTMENT to DESIGN — exploit some external source of variation in treatment.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Instrumental variables is the first such design; RD and DiD follow.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The theme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Find variation in treatment that is as-good-as-random, even though the rest of the data is hopelessly confounded.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unmeasured-confounder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Adjustment needs the confounder in hand. When it is unmeasured — or unmeasurable — we need a different lever.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WHY ADJUSTMENT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You cannot control for what you never measured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Back-door adjustment closes a path only if every confounder on it is observed.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Ability, motivation, frailty, lifestyle — the usual suspects are rarely in the dataset.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'Control for everything you have' leaves the hidden path wide open, and may open new ones (colliders).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No estimator — matching, weighting, doubly-robust — can fix bias from a confounder that was never recorded.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The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Unmeasured confounding is the wall Block II runs into. Designs are how Block III climbs over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An instrument is a valve upstream of treatment: turn it, treatment moves — and the only way that movement reaches the outcome is through treatment itself.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If that story is true, the part of treatment the instrument explains is as-good-as-randomly assigned, free of the hidden confounder. That is the whole idea of IV.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a valid instrument looks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Z → X: the instrument moves treatment (relevance).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X → Y: treatment affects the outcome (the effect we want).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U → X and U → Y: an unmeasured confounder, lurking.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Crucially NO arrow Z → Y except through X, and NO arrow U → Z.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Z is isolated from U and from Y's other causes — that isolation is what we exploit.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Read the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Z ─→ X ─→ Y, with U ─→ X and U ─→ Y. The missing arrows (Z→Y, U→Z) ARE the IV assumptions.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four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An instrument is only as good as the story behind it. Three identify an effect; the fourth names whose effect it 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IV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Relevance, exclusion, independence, monotonicity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RELEVANCE — Z actually moves X. cov(Z, X) ≠ 0. The one you can test.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EXCLUSION — Z affects Y only through X. No direct path Z → 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INDEPENDENCE — Z is as-good-as-random w.r.t. Y's other causes.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MONOTONICITY — no defiers; nobody does the opposite of the encouragement.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Exclusion + independence are untestable causal claims — defend them by argument.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Mnemonic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Relevance you measure; exclusion and independence you argue; monotonicity you assume to name the estimand.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WHAT THE DATA CAN AND CANNOT TELL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Testable vs faith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Testable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F6DB5"/>
                </a:solidFill>
                <a:latin typeface="Calibri"/>
              </a:rPr>
              <a:t>from the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Relevance: the first-stage F statistic.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Monotonicity: partially checkable (signs of subgroup first stages).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If relevance fails, you see it — weak instrument.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Untestable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A9D8F"/>
                </a:solidFill>
                <a:latin typeface="Calibri"/>
              </a:rPr>
              <a:t>argued, not estimated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Exclusion: no second pathway Z → 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Independence: Z unconfounded with the outcome.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These are where most IV papers live or die.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CASE STUDY · ANGRIST–KRUEGER (1991)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Quarter of birth &amp; returns to schooling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Compulsory-schooling laws let students leave at a fixed age, so birth quarter nudges years of schooling.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Z = quarter of birth; X = years of schooling; Y = earnings.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Quarter of birth is plausibly independent of ability — the clever part of the design.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Estimated returns to a year of schooling around 7–10%.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Later critiqued as a WEAK instrument — birth quarter barely moves schooling.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Why it is famous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It is both the textbook IV design AND the textbook cautionary tale about instrument strength.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2SLS &amp; the Wald estimator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Making the idea operational: two ordinary regressions that together purge the unmeasured confounder.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TWO-STAGE LEAST SQUARES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Two OLS regressions, run in sequence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Stage 1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regress X on Z; keep the fitted values X̂ (the part of X the instrument explains).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Purge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X̂ is built only from Z, so it carries none of the unmeasured confounder U.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Stage 2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regress Y on X̂; its coefficient is the consistent IV estimate of X → Y.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Report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always state the first-stage F so the reader can judge instrument strength.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Do not compute second-stage standard errors naively from the two regressions — use an IV routine; they differ.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BINARY-INSTRUMENT SPECIAL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The Wald estimator: a ratio of two effects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For a single binary Z, 2SLS collapses to βIV = cov(Z,Y) / cov(Z,X).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Numerator = reduced form (Z → Y); denominator = first stage (Z → X).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In means: (Ȳ at Z=1 − Ȳ at Z=0) / (X̄ at Z=1 − X̄ at Z=0).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Intuition: scale up the instrument's effect on Y by how much it moved X.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Why the confounder cancels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Both covariances are taken with Z, which is uncorrelated with U — so U drops out of the ratio.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CORE CONTRAST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Why OLS is biased but IV is consistent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F6DB5"/>
                </a:solidFill>
                <a:latin typeface="Calibri"/>
              </a:rPr>
              <a:t>biased under confounding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Y = βX + ε, with U hidden in ε.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U drives X, so cov(X, ε) ≠ 0.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Exogeneity fails → β estimate soaks up the confounding.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IV / 2SLS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A9D8F"/>
                </a:solidFill>
                <a:latin typeface="Calibri"/>
              </a:rPr>
              <a:t>consistent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Z satisfies cov(Z, ε) = 0 and cov(Z, X) ≠ 0.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β = cov(Z,Y)/cov(Z,X) is identified.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confounder cancels because Z is uncorrelated with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LATE &amp; the compliers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An instrument does not move everyone. It identifies the effect only for the people it actually moves.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FOUR RESPONSE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Always-takers, never-takers, compliers, defiers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ALWAYS-TAKERS — treated no matter what the instrument says.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NEVER-TAKERS — untreated no matter what.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COMPLIERS — treated if and only if the instrument encourages it.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DEFIERS — the perverse opposite; ruled out by monotonicity.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Only compliers supply the Z-driven variation in X — so only their effect is identified.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Who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Always- and never-takers don't respond to Z, so they contribute nothing to the IV estimate.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ESTIMAND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IV identifies the LATE, not the 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LATE = E[Y(1) − Y(0) | complier] — the Local Average Treatment Effect.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It can differ from the ATE if compliers benefit more (or less) than average.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Different instruments move different compliers → different LATEs. The estimand is tied to the instrument.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For a binary Z, the first-stage slope = the share of compliers.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Honesty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Report whose effect you estimated. 'The effect' is usually the complier effect — say so.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ESTIMANDS, REVISITED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Where LATE sits among the effects we estimate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Estimand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Population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Identified by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everyone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randomization / full adjustment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ATT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the treated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matching, weighting (Block II)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compliers (move with Z)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an instrument (this week)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CATE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a covariate stratum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heterogeneous-effect methods (later)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The lesson:  </a:t>
            </a:r>
            <a:r>
              <a:rPr sz="1400" b="0" i="0">
                <a:solidFill>
                  <a:srgbClr val="222732"/>
                </a:solidFill>
                <a:latin typeface="Calibri"/>
              </a:rPr>
              <a:t>The method you choose determines WHOSE effect you get. IV buys identification under hidden confounding — at the price of a narrower population.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Weak instruments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Relevance is not yes/no. A barely-relevant instrument is worse than useless — it is misleading.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WHAT GOES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Dividing by almost zero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When cov(Z, X) ≈ 0, the Wald ratio divides by a near-zero denominator.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Tiny chance correlations between Z and Y then blow up into huge estimates.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Symptom 1: the IV estimate is wildly high-variance (enormous confidence intervals).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Symptom 2: it is biased BACK toward OLS — toward the very confounding you fled.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Double jeopardy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 weak instrument gives you both a useless interval AND a point estimate quietly pulled toward bias.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DIAGNOSTIC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Look at the first-stage F — every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first-stage F tests whether Z genuinely moves X.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Rule of thumb: F &lt; 10 → weak instrument; treat the second stage with deep suspicion.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Modern work argues the threshold should often be much higher than 10.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Angrist–Krueger's quarter-of-birth instrument is the cautionary example — clever, but weak.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Habit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Report the first-stage F before you ever interpret the IV coefficient. No F, no trust.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A weak instrument does not just widen your confidence interval — it quietly drags your point estimate back toward the bias you were trying to escape.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This is why instrument STRENGTH, not just validity, is part of every honest IV analysis.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Mendelian randomization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Nature runs a randomized experiment at conception. MR uses a genetic variant as the instrument.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GENETIC INSTRUMENT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Genotype as a natural 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Mendel's second law: alleles are allocated essentially at random at conception.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That randomization happens BEFORE lifestyle and environmental confounders can act.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variant that raises an exposure (e.g. LDL) is a lifelong natural experiment in higher exposure.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If it touches the outcome only through that exposure, it is a valid instrument.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Estimate = cov(G, outcome) / cov(G, exposure) — the same ratio as ever.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The appeal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Independence comes 'for free-ish': genotype is roughly unconfounded with behaviour and social factors.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CASE STUDY · LDL → HEART DISEASE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 textbook MR success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Variants that lower LDL cholesterol are linked to lower coronary heart-disease risk.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Direction and magnitude align with what LDL-lowering drugs (statins) achieve in trials.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Contrast HDL: MR found NO protective causal effect, despite a strong observational correlation.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MR thus separated a real causal exposure (LDL) from a confounded bystander (HDL).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Why it mattered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MR flagged that raising HDL would not help — later confirmed when HDL-raising drugs failed in trials.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ACHILLES HEEL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Pleiotropy and the other threats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0520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Pleiotropy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F6DB5"/>
                </a:solidFill>
                <a:latin typeface="Calibri"/>
              </a:rPr>
              <a:t>breaks exclusion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Variant affects Y through a SECOND pathway, not via the exposure.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Biases the ratio estimate.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central worry in every MR study.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816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8160" y="1920240"/>
            <a:ext cx="350520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104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Stratification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104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A9D8F"/>
                </a:solidFill>
                <a:latin typeface="Calibri"/>
              </a:rPr>
              <a:t>breaks independence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Ancestry relates to both genotype and outcome.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Fixed by ancestry adjustment / within-family designs.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768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7680" y="1920240"/>
            <a:ext cx="3505200" cy="64008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056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Weakness / 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56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E9A23B"/>
                </a:solidFill>
                <a:latin typeface="Calibri"/>
              </a:rPr>
              <a:t>breaks relevance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56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Variant barely moves the exposure.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Same weak-instrument problems as before.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ROBUSTNESS CHECKS MR REQUIRES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Never trust a single variant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Many variants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use multiple independent SNPs; valid ones should give agreeing estimates.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MR-Egger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regress SNP–outcome on SNP–exposure WITH an intercept; a non-zero intercept flags directional pleiotropy.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Egger slope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the slope gives a pleiotropy-robust causal estimate when the intercept is non-zero.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Median / mode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weighted-median and mode-based estimators are the complementary sensitivity analyses.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You will implement the multi-variant MR-Egger check in this week's notebook and watch the intercept catch pleiotropy.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Putting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The IV workflow, the limits, and where Block III goes next.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IV/MR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How to run a credible instrumental-variables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Argue the instrument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make the case for exclusion and independence in prose, from domain knowledge.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Check relevance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run the first stage; report the F. If it is weak, stop.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Estimate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2SLS (or the Wald ratio); report the LATE and name the compliers.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Stress-test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sensitivity to exclusion; for MR, MR-Egger and median estimators.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Same five-step spirit as always: question → assume → identify → estimate → validate.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HONEST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IV buys you — and what it costs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What you gain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Identification despite UNMEASURED confounding.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design-based, transparent argument.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Often the only credible option in observational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What you pay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Only the complier effect (LATE), not the ATE.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Two untestable assumptions (exclusion, independence).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Sensitivity to weak instruments and pleiotropy.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Find a valve that moves treatment and nothing else — then scale its effect on the outcome by its effect on treatment.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That single sentence is IV, 2SLS, the Wald estimator, and Mendelian randomization. This week: build it in code, diagnose it, and break it with pleiotropy — and good luck on the midterm.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