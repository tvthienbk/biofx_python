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CAUSAL INFERENCE 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5B9BD5"/>
                </a:solidFill>
                <a:latin typeface="Calibri"/>
              </a:rPr>
              <a:t>Block IV — Modern methods &amp; application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Double / Debiased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D7DEEA"/>
                </a:solidFill>
                <a:latin typeface="Calibri"/>
              </a:rPr>
              <a:t>Use flexible ML for the nuisance parts without letting it bias the effect you care about.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7F8694"/>
                </a:solidFill>
                <a:latin typeface="Calibri"/>
              </a:rPr>
              <a:t>Week 12   ·   4-credit graduate seminar   ·   theory + assumptions + code + a real 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What we will cover in Week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3949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The partially linear model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Linear in the effect we want, flexible in the nuisances we don't.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Why naive plug-in ML is biased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Regularization bias and overfitting leak into θ̂.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Frisch–Waugh–Lovell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Residualize Y and D on X, then regress the residuals.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920240"/>
            <a:ext cx="53949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Neyman orthogonality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A score that ignores small nuisance errors to first order.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Cross-fitting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Predict each row with models that never saw it.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Variants &amp; limits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ATE, instruments — and what DML can't fix.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WHERE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Block IV: flexible ML meets causal estimation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Blocks II–III gave us adjustment, weighting, IV, RD, DiD — mostly with parametric nuisance models.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Modern problems have hundreds of confounders and nonlinear structure: OLS for the nuisance is not enough.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We want to use flexible ML for the nuisances — without biasing the effect we report.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DML is the bridge: ML for prediction, an orthogonal cross-fitted score for estimation.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AIPW (Week 7) was a first taste; this week makes it systematic.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The throughline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Separate the part you care about (θ) from the parts you don't (g, m), and protect θ from the learner's biases.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Use machine learning for the nuisances you don't care about — and protect the one number you 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Double/debiased ML lets a black-box learner handle high-dimensional confounding while an orthogonal, cross-fitted score keeps the treatment effect unbiased and the confidence interval valid.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partially linear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Linear in the parameter we want; arbitrary in the nuisance functions we are happy to hand to a learner.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Y = θ·D + g(X) + ε,  D = m(X) + v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θ is the causal effect of treatment D on outcome Y — the one number we report.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g(X) and m(X) are unknown, nonlinear, possibly high-dimensional nuisances.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X confounds: it drives both the treatment (through m) and the outcome (through g).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'Partially linear' = linear in θ, flexible everywhere else.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Goal: estimate θ while letting ML do g and 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Why this shape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It isolates a single interpretable parameter θ, so we can focus all our care on protecting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TWO REGIMES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Classical adjustment vs. the modern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50520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Classical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313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F6DB5"/>
                </a:solidFill>
                <a:latin typeface="Calibri"/>
              </a:rPr>
              <a:t>low-dim, linear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Fit g(X) with OLS.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Few, hand-picked confounders.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Coefficient on D is the effect.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816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8160" y="1920240"/>
            <a:ext cx="350520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104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Modern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1040" y="2697480"/>
            <a:ext cx="313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A9D8F"/>
                </a:solidFill>
                <a:latin typeface="Calibri"/>
              </a:rPr>
              <a:t>high-dim, nonlinear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40" y="32004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Hundreds of confounders; genomics-scale X.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g, m are nonlinear and unknown.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Need flexible ML — but carefully.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768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7680" y="1920240"/>
            <a:ext cx="3505200" cy="64008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056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The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560" y="2697480"/>
            <a:ext cx="313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E9A23B"/>
                </a:solidFill>
                <a:latin typeface="Calibri"/>
              </a:rPr>
              <a:t>if you are naive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560" y="32004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ML is regularized and overfits.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That bias leaks straight into θ̂.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Low test error ≠ unbiased effect.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TWO MOTIVATING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Where high-dimensional confounding bites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Pricing: demand depends on price plus a flood of market, seasonal, and customer covariates — all confounding.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Genomics: a treatment's effect on a phenotype, confounded by thousands of measured genetic covariates.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In both, the confounder set is too large and too nonlinear for OLS adjustment.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Flexible ML can model the nuisances — DML makes the resulting effect trustworthy.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Common thread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Lots of X, nonlinear structure, one effect to defend. The DML use case exactly.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Why naive plug-in ML is biased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Two culprits — regularization bias and overfitting — turn a great predictor into a bad estimator.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CULPRIT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Regularization bias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Every flexible learner shrinks toward simplicity to control variance.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That shrinkage leaves a systematic error in ĝ(X): bias, not just noise.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naive plug-in score is not orthogonal, so this bias hits θ̂ at FIRST order.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It does not vanish fast enough to ignore — θ̂ is biased even in large samples.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Key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A learner tuned for low prediction error is not tuned for an unbiased coefficient.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CULPRIT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Overfitting &amp; leakage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model that has seen a row predicts that row too well.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Its in-sample residual is artificially small and tangled with the row's own noise.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That own-observation error sneaks into the score and biases θ̂.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The cure is to never predict a row with a model trained on it — cross-fitting.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Diagnostic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In-sample residual variance far below the out-of-fold value is the overfitting fingerprint.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Prediction is not estimation.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Low test MSE does not buy you a trustworthy θ̂. DML keeps the ML for predicting the nuisances but estimates the effect through an orthogonal, cross-fitted score.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Frisch–Waugh–Lovell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The residual-on-residual idea at the core of DML — older than machine learning by eighty years.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CLASSIC THEOREM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Partial X out of both sides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FWL: the OLS coefficient on D in Y ~ D + X equals the slope from regressing Y-residuals on D-residuals.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Residualize Y: Ỹ = Y − Ê[Y|X]. Residualize D: D̃ = D − Ê[D|X].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Then θ̂ = (D̃ᵀỸ) / (D̃ᵀD̃) — a one-variable regression.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With X partialled out of D, the leftover D̃ is as-good-as-random.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Why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Confounding lives in the X-driven part of D. Remove it, and what's left identifies the effect.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DML = FWL WITH A LEARNER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The partially-linear recipe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Model E[Y|X]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any flexible learner for the outcome's nuisance.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52927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52927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52927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Model E[D|X]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any flexible learner for the treatment's nuisance.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694174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694174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694174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Residualize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Ỹ = Y − Ê[Y|X], D̃ = D − Ê[D|X].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535421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535421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535421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Regress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slope of Ỹ on D̃ gives θ̂.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5376668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376668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76668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SE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robust SE from the residual regression.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Identical to FWL; only the conditional-expectation estimator changes from OLS to ML.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LINEAR VS. ML PARTIALLING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What changes, what stays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9496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Stays the same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Residual-on-residual structure.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Orthogonality of the score.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θ̂ as a one-variable slope.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9496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Changes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OLS projection → flexible ML.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Captures nonlinear g, m.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Now MUST cross-fit (ML overfits).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Neyman orthogonality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The score property that makes the estimate first-order insensitive to nuisance error — the heart of 'debiased.'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First-order insensitivity to the nuisance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score ψ(W; θ, η) involves the target θ and nuisance η = (g, m).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Orthogonal if the derivative of E[ψ] in the η-direction is zero at the truth.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So small nuisance errors move θ̂ only at SECOND order.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naive plug-in score lacks this; the residualized score has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The orthogonal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ψ = (Y − ĝ − θ(D − m̂))(D − m̂). Built so first-order nuisance error cancels.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PAYOFF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Slow nuisances are good enough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Orthogonality means nuisances need only converge at a slow rate (≈ n^(−1/4)).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Forests, boosting, and LASSO comfortably hit that rate.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Then θ̂ is √n-consistent and asymptotically normal.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So the usual confidence interval is valid — despite the ML.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Two for the price of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Flexibility for the nuisances AND honest inference for the effect.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YOU'VE MET THIS BEFORE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AIPW was your first orthogonal score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Week 7's doubly robust estimator IS the orthogonal score for the ATE.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Double robustness and Neyman orthogonality are the same property in disguise.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DML generalizes it: any nuisance learner, plus systematic cross-fitting.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interactive-model DML for the ATE is cross-fitted AIPW.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Continuity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Week 7 → Week 12 is one idea growing up: orthogonal scores for flexible nuisances.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Cross-fitting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Orthogonality tames regularization bias; cross-fitting tames overfitting. You need both.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PROCEDURE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Out-of-fold residuals in K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Split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partition the data into K folds (K = 2–5).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52927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52927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52927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Train away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fit nuisances on the K−1 OTHER folds.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694174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694174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694174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Predict in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residualize the held-out fold.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535421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535421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535421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Pool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stack all out-of-fold residuals.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5376668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376668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76668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Estimate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regress pooled Ỹ on D̃; average over splits.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No row is ever predicted by a model that has seen it — that is the whole point.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WHY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Break the entanglement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Predicting a row with a model trained on it correlates its residual with its own noise.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Cross-fitting uses only other folds, so residual and fitting-noise are independent.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own-observation bias term disappears.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Averaging the folds uses every row, so no efficiency is lost.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Free protection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You give up nothing in efficiency and gain a valid standard error.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CROSS-FIT VS. IN-SAMPLE, ON SIMULATED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In-sample residuals collapse — the overfitting fingerprint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64240" cy="2286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Quantity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Cross-fit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In-sample (no CF)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Var of D-residual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≈ 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≈ 0.15  (collapsed)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Var of Y-residual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≈ 1.9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≈ 0.27  (collapsed)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Standard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valid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too small — invalid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θ̂ guarantee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√n-normal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You'll see this in the notebook:  </a:t>
            </a:r>
            <a:r>
              <a:rPr sz="1400" b="0" i="0">
                <a:solidFill>
                  <a:srgbClr val="222732"/>
                </a:solidFill>
                <a:latin typeface="Calibri"/>
              </a:rPr>
              <a:t>Skip cross-fitting and the residual variances crater — a clear signal the inference is broken.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Variants &amp; a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DML for the ATE, DML with instruments, and high-dimensional confounding in practice.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THREE MODEL FLAVORS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One framework, several scores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50520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Partially linear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313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F6DB5"/>
                </a:solidFill>
                <a:latin typeface="Calibri"/>
              </a:rPr>
              <a:t>PLR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Constant effect θ.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Residual-on-residual.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recipe you build in lab.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816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8160" y="1920240"/>
            <a:ext cx="350520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104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Interactive / 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104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Effect may vary by arm.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Cross-fitted AIPW score.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Targets E[Y(1)] − E[Y(0)].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768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7680" y="1920240"/>
            <a:ext cx="3505200" cy="64008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056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Partially linear IV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0560" y="2697480"/>
            <a:ext cx="313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E9A23B"/>
                </a:solidFill>
                <a:latin typeface="Calibri"/>
              </a:rPr>
              <a:t>PLIV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560" y="32004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Endogenous D, instrument Z.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Residualize Y, D, AND Z on X.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Then residual 2SLS.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CASE · A PRICING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High-dimensional confounding in demand estimation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The question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effect of price (D) on quantity sold (Y).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6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The confounders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seasonality, market, customer and product features: hundreds of X.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4904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Nuisances by ML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flexible models for E[Y|X] and E[price|X].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1772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1772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Orthogonal θ̂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cross-fitted residual regression gives a credible price elasticity.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Same story for a genomics-scale covariate set: thousands of measured confounders, one effect.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COMBINING WITH INSTRUMENTS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DML meets IV (PLIV)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When D is endogenous, an instrument Z restores identification.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Residualize Y, D, AND Z on X with cross-fitted ML.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Then 2SLS on the residuals: θ̂ = cov(Z̃, Ỹ) / cov(Z̃, D̃).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Same orthogonality and cross-fitting; one more nuisance to learn.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Reuse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Mendelian randomization (Week 8) plus high-dimensional controls is a natural PLIV application.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Pitfalls &amp;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DML is powerful estimation — but it is not magic, and it does not identify effects for you.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TWO TRAPS TO AVOID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Regularization bias and leakage, revisited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Skip orthogonalization → regularization bias from the nuisance learner contaminates θ̂.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Skip cross-fitting → overfitting leakage shrinks residuals and breaks the SE.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Tune nuisances for prediction, but never read θ off the nuisance model.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Always sanity-check: do the cross-fit residual variances look right?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Rule of thumb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Orthogonality and cross-fitting are a pair. Neither alone gives valid inference.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BE PRECISE ABOUT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What DML does and does NOT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9496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DML fixes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Regularization bias (orthogonal score).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Overfitting leakage (cross-fitting).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High-dimensional, nonlinear nuisances.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9496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DML does NOT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Unmeasured confounding.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Positivity violations.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wrong causal graph.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DML is an estimation tool, not an identification tool.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If a confounder is unmeasured, it is not in X — the orthogonal score is built around the wrong nuisances, and no learner, however flexible, can rescue θ̂. Identification still requires your assumptions.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DML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From question to a defensible estimate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Identify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argue no-unmeasured-confounding (or find an instrument).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52927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52927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52927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Choose learners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flexible models for E[Y|X], E[D|X].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694174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694174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694174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Cross-fit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out-of-fold residuals, K folds.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535421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535421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535421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Orthogonal estimate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residual regression; robust SE &amp; CI.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5376668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376668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76668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Stress-test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vary learners and folds; sensitivity to unmeasured X.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If the estimate swings wildly across learners or folds, distrust it — and check identification first.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ML for the nuisances, orthogonality plus cross-fitting for the effect.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This week: build the partially-linear DML estimator by hand, watch it beat the naive plug-in on data with a known θ, and see for yourself that unmeasured confounding is beyond its reach. See you in the lab.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