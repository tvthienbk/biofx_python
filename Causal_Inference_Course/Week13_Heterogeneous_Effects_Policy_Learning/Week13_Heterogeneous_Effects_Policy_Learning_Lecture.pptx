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CAUSAL INFERENCE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9BD5"/>
                </a:solidFill>
                <a:latin typeface="Calibri"/>
              </a:rPr>
              <a:t>Block IV — Modern methods &amp; 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Heterogeneous Effects &amp; Policy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976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D7DEEA"/>
                </a:solidFill>
                <a:latin typeface="Calibri"/>
              </a:rPr>
              <a:t>Move from "does it work on average?" to "for whom — and what should we do about it?"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7F8694"/>
                </a:solidFill>
                <a:latin typeface="Calibri"/>
              </a:rPr>
              <a:t>Week 13   ·   4-credit graduate seminar   ·   theory + assumptions + code + a real case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we will cover in Week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Beyond the average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Why the ATE can hide who is helped and who is harmed.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conditional effect τ(x) and what it lets you do.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Meta-learners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S-, T-, X-, and R-learners from any regressor.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9496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Causal forests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Honest trees that give CATE with valid inference.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Evaluating CATE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Calibration and uplift/Qini without ground truth.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F6DB5"/>
                </a:solidFill>
                <a:latin typeface="Calibri"/>
              </a:rPr>
              <a:t>Policy learning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From τ̂(x) to an optimal treatment rule — and its value.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WHY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The average is the wrong question for a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ATE answers 'does it work on average?' — a policy must answer 'for whom, and what do we do?'.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Treatments are rarely uniform: some patients benefit, some are unaffected, some are harmed.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 zero ATE is compatible with huge individual effects that cancel.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If effects vary, targeting the right units can beat treating everyone — sometimes by a lot.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is the bridge from estimation to action: CATE → policy.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shift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From 'how big is the effect?' to 'who should we treat, and how much better is that than treat-all or treat-none?'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WHERE IT BITES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Targeting an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Medicine: give the drug to responders, spare non-responders the side effects.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Marketing: send the offer to customers it will actually persuade (uplift modeling).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Policy: allocate a scarce program to the people it helps most.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is the same problem: estimate τ(x), then decide who gets treated.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Case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Which patients (or customers) should be treated? We answer it end-to-end in the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From ATE to 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The conditional average treatment effect — the object that makes personalization possible.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CATE: the effect for someone who looks like x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ATE = E[Y(1) − Y(0)]: the population-average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CATE τ(x) = E[Y(1) − Y(0) | X = x]: the average effect among units with covariates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ATE = E[τ(X)] — the ATE is just the average of the CATE.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Heterogeneity is exactly the variation of τ(x) across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Personalized decisions live at the level of τ(x), not the 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Estimand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Decide whether you want the average effect or the effect function before you fit anything.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An ATE of zero can mean 'does nothing' — or 'helps half, harms half.' Only τ(x) tells them apart.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When effects are heterogeneous, the average is a policy-irrelevant summary. The decision lives in the variation.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SAME ATE, DIFFERENT WORLDS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the average can mislead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11064240" cy="2286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Effect for group 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Effect for group B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ATE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Homogeneous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Helps one group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+2.0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+1.0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Helps &amp; harms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2732"/>
                          </a:solidFill>
                        </a:rPr>
                        <a:t>Mostly harms a few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+0.5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−3.0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732"/>
                          </a:solidFill>
                        </a:rPr>
                        <a:t>varies</a:t>
                      </a:r>
                    </a:p>
                  </a:txBody>
                  <a:tcPr>
                    <a:solidFill>
                      <a:srgbClr val="ECEE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2A9D8F"/>
                </a:solidFill>
                <a:latin typeface="Calibri"/>
              </a:rPr>
              <a:t>Read the last row:  </a:t>
            </a:r>
            <a:r>
              <a:rPr sz="1400" b="0" i="0">
                <a:solidFill>
                  <a:srgbClr val="222732"/>
                </a:solidFill>
                <a:latin typeface="Calibri"/>
              </a:rPr>
              <a:t>A small positive ATE can still hide a subgroup that is badly harmed — a reason to target, not to treat-all.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Meta-learners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Turn any off-the-shelf regressor into a CATE estimator — the S-, T-, X-, and R-learners.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S-LEARNER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One model, treatment as a feature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a single μ(x, w) with W as just another covariate.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τ̂(x) = μ̂(x, 1) − μ̂(x, 0).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Simple and data-efficient; reuses one model.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Risk: a regularized learner can downweight W and shrink τ̂ toward zero.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When it's fine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Effects modest and smooth, and the base learner won't ignore the treatment indicator.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T-LEARNER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Two models, one per arm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μ̂₁ on the treated and μ̂₀ on the controls separately.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τ̂(x) = μ̂₁(x) − μ̂₀(x).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Flexible — each arm gets its own model.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Risk: noisy when an arm is small; models two surfaces to get one difference.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Our workhorse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Two RandomForestRegressors approximate an honest causal forest well enough for the lab.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X-LEARNER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Cross-impute, re-regress, blend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Stage 1: fit μ̂₀, μ̂₁ (as in the T-learner).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Stage 2: impute each unit's effect with the OTHER arm's model.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Stage 3: regress imputed effects on X; blend the two by the propensity e(x).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Wins when treatment groups are unbalanced, or τ(x) is smoother than the response surfaces.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Why it helps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It borrows strength from the larger arm to estimate the smaller arm's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PICK A LEARNER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 vs. T vs. X vs. 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S-learner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F6DB5"/>
                </a:solidFill>
                <a:latin typeface="Calibri"/>
              </a:rPr>
              <a:t>one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 is a feature.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Data-efficient.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Can shrink τ̂ to 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 / X-learner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2A9D8F"/>
                </a:solidFill>
                <a:latin typeface="Calibri"/>
              </a:rPr>
              <a:t>per-arm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104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T: difference two models.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X: cross-impute + blend.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X shines when arms unbalanced.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R-learner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560" y="2697480"/>
            <a:ext cx="313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1">
                <a:solidFill>
                  <a:srgbClr val="E9A23B"/>
                </a:solidFill>
                <a:latin typeface="Calibri"/>
              </a:rPr>
              <a:t>orthogonal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560" y="32004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Partial out Y and 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Fit τ on residuals.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Same idea as DML.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Causal forests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Honest trees that estimate τ(x) pointwise — with valid confidence intervals.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Split for effect heterogeneity, not for outcome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Trees split to separate units with DIFFERENT treatment effects.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The forest is an adaptive kernel: a data-driven neighborhood around x.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CATE at x = a locally weighted effect estimate from that neighborhood.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An R-learner-style criterion drives the splits.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Not outcome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causal forest optimizes for heterogeneity in τ, not for predicting 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honest splitting buys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Use one subsample to choose splits, a DISJOINT one to estimate leaf effects.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This removes the overfitting bias that plagues ordinary forests.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Result: CATE estimates that are asymptotically normal with valid pointwise CIs.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 vanilla RandomForest T-learner cannot promise that inference.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The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You split your data: less data per task, in exchange for honest uncertainty.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TWO ROUTES TO Τ(X)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T-learner forest vs. causal forest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RF T-learner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standard forests, differenced.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Easy with scikit-learn.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Point estimates only — no honest CIs.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Our lab approximation.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920240"/>
            <a:ext cx="539496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2996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Honest causal forest (grf)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One forest, honest splits.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Splits target effect heterogeneity.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Valid pointwise confidence intervals.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Wager &amp; Athey (2018).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Evaluating a CATE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You never see τ(x) in real data — so how do you know your model is any good?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No ground truth for the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Each unit reveals only one potential outcome, so τ(x) is never observed.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You cannot compute the MSE of a CATE model directly on real data.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But you CAN check whether its rankings and levels hold up out of sample.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Two tools: calibration and the uplift / Qini curve.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Golden rule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Fit on one split; evaluate on a disjoint holdout, ideally a randomized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TOOL 1 ·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 predicted effects match realized effects?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Bin holdout units by predicted CATE.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Within each bin, estimate the ACTUAL effect (difference in means in a randomized holdout).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realized vs. predicted — a good model hugs the 45° line.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A useless model is flat near the overall 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What it catches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Over- or under-confident predictions and systematic shrinkage toward the average.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TOOL 2 · UPLIFT / QINI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Does targeting by τ̂ actually pay off?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Sort units by predicted CATE; treat the top-k fraction.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Plot cumulative incremental outcome vs. fraction treated.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good model bows ABOVE the random diagonal; Qini = area between them.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Reads off the value at every treatment budget.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Decision-facing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The uplift curve answers 'if I can treat 20%, whom — and how much do I gain?'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most extreme subgroup you find by searching is biased upward — that's multiple testing, not a discovery.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Naive subgroup-hunting overfits. Pre-register, cross-fit, or use a method that regularizes the effect function.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Policy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From an estimated effect function to an optimal treatment rule — and a number that says how much it's worth.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Treat where the effect clears the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 policy is a rule π : X → {0, 1}.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With treatment cost c, the optimal rule is π*(x) = 1{τ(x) &gt; c}.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7F8694"/>
                </a:solidFill>
                <a:latin typeface="Calibri"/>
              </a:rPr>
              <a:t>·  </a:t>
            </a:r>
            <a:r>
              <a:rPr sz="1500" b="0" i="0">
                <a:solidFill>
                  <a:srgbClr val="44546A"/>
                </a:solidFill>
                <a:latin typeface="Calibri"/>
              </a:rPr>
              <a:t>With c = 0: treat whenever the effect is positive.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Plug in τ̂(x) to get a learned policy π̂.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Simple, but powerful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Most of the work is a good τ̂; the decision rule itself is a threshold.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How good is a policy?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Value V(π) = E[Y(π(X))]: the expected outcome under the rule.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Advantage over treat-none: V(π) − V(0) = E[π(X) · (τ(X) − c)].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Estimate it on a holdout with a doubly robust score so plug-in error cancels.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Regret = V(π*) − V(π̂): the gap to the best possible rule.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Always end 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A CATE model is only as useful as the policy value it delivers — not its correlation.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CATE to decision in four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fit τ̂(x) with a meta-learner or causal forest.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Evaluate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calibration + uplift on a disjoint holdout.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Decide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π̂(x) = 1{τ̂(x) &gt; c}.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Value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— estimate V(π̂) − V(0); compare to treat-all / none.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The learned rule keeps the gains and skips the losses — that's why it beats both baselines.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THREE POLICIES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Why the learned rule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505200" cy="640080"/>
          </a:xfrm>
          <a:prstGeom prst="rect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Treat-all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Treats everyone.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Pays the losses on harmed units.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Net-negative if many τ(x) &lt; 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816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8160" y="1920240"/>
            <a:ext cx="3505200" cy="64008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104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Treat-none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104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Treats no one.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Forgoes all the gains.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Value advantage = 0.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7680" y="1920240"/>
            <a:ext cx="3505200" cy="429768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1920240"/>
            <a:ext cx="3505200" cy="64008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0560" y="2029968"/>
            <a:ext cx="3139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Learned 1{τ̂&gt;0}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0560" y="2743200"/>
            <a:ext cx="31394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Treats only positive-effect units.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Captures gains, avoids losses.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Beats both baselines.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377440"/>
            <a:ext cx="164592" cy="18288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9A23B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69748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Case &amp; 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02336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0" i="1">
                <a:solidFill>
                  <a:srgbClr val="C7D2E2"/>
                </a:solidFill>
                <a:latin typeface="Calibri"/>
              </a:rPr>
              <a:t>Targeting an intervention end-to-end — and what to carry into the lab.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CASE STUDY · WHO SHOULD BE TREATED?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Targeting an intervention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Simulate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Heterogeneous τ(x) centered near 0 — ATE small, but many harmed.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8036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88036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Estimate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T- and S-learner CATE; compare to the known τ(x).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74904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74904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74904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Evaluate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Uplift / Qini curve above the diagonal.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17720"/>
            <a:ext cx="640080" cy="758952"/>
          </a:xfrm>
          <a:prstGeom prst="ellipse">
            <a:avLst/>
          </a:prstGeom>
          <a:solidFill>
            <a:srgbClr val="2F6D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617720"/>
            <a:ext cx="640080" cy="758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617720"/>
            <a:ext cx="100584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F2A44"/>
                </a:solidFill>
                <a:latin typeface="Calibri"/>
              </a:rPr>
              <a:t>Act  </a:t>
            </a:r>
            <a:r>
              <a:rPr sz="1500" b="0" i="0">
                <a:solidFill>
                  <a:srgbClr val="222732"/>
                </a:solidFill>
                <a:latin typeface="Calibri"/>
              </a:rPr>
              <a:t>'Treat if τ̂ &gt; 0' beats treat-all and treat-none.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7F8694"/>
                </a:solidFill>
                <a:latin typeface="Calibri"/>
              </a:rPr>
              <a:t>Same data, three policies — the learned one wins because it knows for whom.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9A23B"/>
                </a:solidFill>
                <a:latin typeface="Calibri"/>
              </a:rPr>
              <a:t>PITFALLS TO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2A44"/>
                </a:solidFill>
                <a:latin typeface="Calibri"/>
              </a:rPr>
              <a:t>What breaks a heterogeneity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54480"/>
            <a:ext cx="1280160" cy="38100"/>
          </a:xfrm>
          <a:prstGeom prst="rect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040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Subgroup-hunting without a holdout — the winner's curse inflates the effect.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Reporting correlation with τ̂ but never the policy value.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Forgetting positivity: you can't estimate τ(x) where one arm is absent.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 i="0">
                <a:solidFill>
                  <a:srgbClr val="E9A23B"/>
                </a:solidFill>
                <a:latin typeface="Calibri"/>
              </a:rPr>
              <a:t>—  </a:t>
            </a:r>
            <a:r>
              <a:rPr sz="1800" b="0" i="0">
                <a:solidFill>
                  <a:srgbClr val="222732"/>
                </a:solidFill>
                <a:latin typeface="Calibri"/>
              </a:rPr>
              <a:t>Trusting point CATE without uncertainty when stakes are high.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8120" y="1874519"/>
            <a:ext cx="3840480" cy="3291840"/>
          </a:xfrm>
          <a:prstGeom prst="rect">
            <a:avLst/>
          </a:prstGeom>
          <a:solidFill>
            <a:srgbClr val="ECE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874519"/>
            <a:ext cx="91440" cy="32918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74152" y="2057400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A9D8F"/>
                </a:solidFill>
                <a:latin typeface="Calibri"/>
              </a:rPr>
              <a:t>Antidotes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4152" y="26060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222732"/>
                </a:solidFill>
                <a:latin typeface="Calibri"/>
              </a:rPr>
              <a:t>Sample-split, evaluate on a holdout, and always end at the policy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828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0" b="1" i="0">
                <a:solidFill>
                  <a:srgbClr val="E9A23B"/>
                </a:solidFill>
                <a:latin typeface="Calibri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Estimate τ(x). Evaluate it honestly. Decide who to treat. Measure the value.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93776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1">
                <a:solidFill>
                  <a:srgbClr val="C7D2E2"/>
                </a:solidFill>
                <a:latin typeface="Calibri"/>
              </a:rPr>
              <a:t>This week: fit a T- and S-learner, build an uplift curve, and show a 'treat if τ̂&gt;0' policy beating treat-all and treat-none. See you in the lab.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8229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Calibri"/>
              </a:rPr>
              <a:t>Causal Inference in Practice   ·   Week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922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