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 — Foundations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The Causal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Why prediction is not intervention, why correlation is not causation, and the vocabulary that makes the difference precise.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Why causal?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questions worth asking are about intervention, not just patterns.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Correlation ≠ causation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Three engines of spurious association.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Confounding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single most important obstacle — and Simpson's paradox.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Ladder of causation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Seeing, doing, imagining — three distinct rungs.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Two frameworks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Potential outcomes and causal graphs, previewed.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A real case +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LaLonde job-training and the 5-step causal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THIS COURSE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practical toolkit for answering causal questions with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Goal: take a real dataset and a causal question, choose a credible identification strategy, estimate an effect, and defend 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Every method is theory + assumptions + code + a reproducible real case study.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Causal inference is a workflow, not a single regression.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question → assumptions → identification → estimation → validation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Domains span tech experiments, economics &amp; policy, epidemiology and biomedicine — the logic transfers across all of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You will be able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Design, run, and critique a credible causal study end-to-end — and know when the data simply cannot answer the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Prerequisites &amp; what you bring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Probability &amp; statistics: expectation, variance, conditioning.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Linear &amp; logistic regression (interpretation).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Programming in R or Python; comfort with a data frame.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We will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potential-outcomes and DAG languages from scratch.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estimator's assumptions, diagnostics, failure modes.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reproducible analysis habit (version control + notebooks).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Not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Measure theory or advanced asymptotics.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Prior econometrics or epidemiology.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specific domain background.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ARC OF THE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Fifteen weeks, four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FOUNDATIONS — causal question · potential outcomes · randomized experiments · DAGs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ADJUSTMENT — regression &amp; control · matching &amp; propensity · weighting &amp; doubly robust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QUASI-EXPERIMENTS — IV &amp; Mendelian rand. · regression discontinuity · difference-in-differences · synthetic control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MODERN &amp; APPLIED — double/debiased ML · heterogeneous effects · advanced topics · capstone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The midterm (Week 8) covers Weeks 1–7; the capstone is the final deliverable.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Problem sets 20% · Labs 25% · Midterm 20% · Capstone 30% · Participation 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causation?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Almost every decision-relevant question is secretly a causal one — even when we phrase it as a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questions that matter are causal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Does this drug reduce mortality — or do healthier patients take it?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Will raising the minimum wage cost jobs?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Did the new checkout flow increase purchases, or did we ship it in a good week?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Would this patient have survived had we treated earlier? (a counterfactual)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Each asks what would happen under an action — not merely what tends to co-occur.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Common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'If we set treatment to value t, what happens to outcome Y?' — the do-operator we meet later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CORE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Prediction is not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PREDICTION —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P(Y | 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Uses observed associations.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'Patients on this drug live longer.'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Great for forecasting &amp; triage.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Silent on what an action would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INTERVENTION — Doing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P(Y | do(X))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Asks what a deliberate change causes.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'If we give the drug, do they live longer?'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Needed for any decision or policy.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Requires causal assumptions to identify.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do(X) — the action we evaluate — is not the same as X | seen, the group that happened to have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People who take an action differ from everyone else in ways that also drive the outcome. Closing that gap — credibly — is the whole game.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Correlation ≠ causation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correlation is a fact about a joint distribution. A causal claim is a fact about interventions. They are different objects.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SLOGAN, SHARPENED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True — but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slogan tells you what NOT to conclude. It gives no recipe for what you CAN conclude.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Causal inference replaces it with a procedure: state assumptions, check identifiability, estimate, stress-test.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Crucially, correlation PLUS the right assumptions CAN justify causation — the optimistic core of the field.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the real question is never 'is it causal?' but 'what would have to be true for this to be causal, and is it?'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Don't ask whether data prove causation. Ask which assumptions license a causal reading — then defend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X AND Y MOVE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Three engines of association without causation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Reverse causation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 actually causes 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Hospitals → death? Sick people go to hospitals.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Confounding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common cause Z drives both X and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Coffee &amp; cancer, both driven by smoking.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Selection / collider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Conditioning on a common effect creates a fake link.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Talent vs. looks among hired actors.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Confounding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common-cause problem: the central obstacle to causal inference from observational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confounder is a common cause of treatment and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 is a confounder of X → Y if Z causes X and Z (independently) causes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induces association between X and Y that is not due to X's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Graphically a 'fork': X ← Z → Y, opening a back-door path.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Measure and adjust for Z → we can (often) recover the causal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Z is unmeasured, adjustment alone cannot save us — we need a design or an instrument.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Fork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X ← Z → Y. The back-door path we must block to read X → Y cleanly.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CLASSIC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Ice cream sales 'predict' drownings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Hot weather raises both ice-cream sales and swimming (and so drownings). Neither causes the other.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spurious path is Ice cream ← Heat → Drownings.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Fix: condition on temperature.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Within a narrow heat band, ice cream and drownings are unrelated.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Adjustment = comparing like with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Every confounding story has this shape: a common cause you must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BIOMEDICAL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Coffee, smoking, and lung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Early studies found coffee drinkers had higher lung-cancer rates.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coffee drinkers were also far more likely to smoke.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Smoking is a common cause: it raises coffee consumption and causes lung cancer.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Adjusting for smoking shrinks the coffee–cancer association toward null.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Unmeasured = danger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smoking had not been recorded, no amount of clever statistics on this dataset could fix the bias.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 WARNING WE WILL 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'Just control for everything' is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Adjust for confounders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Common causes of X and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Blocks back-door bias.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Never adjust for colliders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Common effects of X and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Conditioning opens a fake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Don't adjust for mediators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Things on the X → Y path.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You'd remove the effect itself.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Simpson's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When an effect reverses sign after you split the data — and the data alone cannot tell you which answer is right.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An effect that flips when you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treatment looks better overall, yet worse within every subgroup — or vice versa.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Not a statistical error; the numbers are all correct.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arises when the subgroup variable relates to both treatment assignment and outcome (a confounder).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resolution is not mathematical — it is causal.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same table supports opposite conclusions. Only a causal model picks the right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WORKED EXAMPLE · KIDNEY 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Success rates: the reversal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Treatment A (open)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Treatment B (keyhole)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Small 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93%  (81/87)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87%  (234/270)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Large stones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73%  (192/263)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69%  (55/80)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Both 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78%  (273/350)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83%  (289/350)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it twice: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A wins in both rows, yet B wins overall. Doctors gave A to the harder (large-stone) cases — severity confounds the totals.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WHICH ANSWER IS CORRECT?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DAG decides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Severity → treatment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(confounder)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Sev → Tx, Sev → Cure.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Trust the SUBGROUPS (adjust).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Treatment → blood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(mediator)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Tx → BP → Outcome.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Trust the COMBINED (don't adjust).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No causal claim in, no causal claim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Data describe a distribution. To get an interventional answer you must add assumptions about the causal structure — from design, domain knowledge, or a credible graph. Statistics estimates; causal assumptions identify.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ladder of causation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Pearl's three rungs: seeing, doing, imagining. Each rung needs tools the rung below cannot provide.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RUNG 1 · SEEING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Association — P(Y | 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Pure observation: how does Y vary across values of X we happen to see?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Covers correlation, regression, and essentially all of supervised ML.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Powerful for forecasting when the world keeps behaving as in training.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Cannot answer 'what if we intervene?' — that needs a different operator.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Correlation, regression, classifiers, deep nets. All live on rung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RUNG 2 ·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Intervention — P(Y | do(X))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distribution of Y when we SET X by external action, breaking its usual causes.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do(X = x) erases the arrows into X — we override how X is normally determined.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Randomized experiments physically realize do(X); that is why they are the gold standard.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Most of this course = recovering P(Y | do(X)) from observational data plus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do-operator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Set X by intervention, not by observation. Different from conditioning on 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RUNG 3 · IMAGINING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Counterfactuals — what would have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Reason about a specific unit in a world that did not occur: 'had this patient not been treated…'.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Requires the most structure — a full causal model, not just an intervention distribution.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Underlies attribution, blame, fairness, and individual treatment effects.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potential-outcomes notation Y(1), Y(0) is built for this — next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Hardest 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Individual counterfactuals are never both observed — the fundamental problem of causal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LADDER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You cannot climb with lower-rung tools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Rung-1 data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P(Y|X) from any observational dataset.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+ assumptions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design or a credible causal graph.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= Rung-2 answer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an identified interventional effect.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Lower-rung data + higher-rung assumptions = a higher-rung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Two languages of causality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Potential outcomes and causal graphs say the same things in different dialects. Fluent practitioners use both.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LANGUAGE A · NEYMAN–RUBIN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Potential outcomes: Y(1) and Y(0)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 each unit, imagine two outcomes: Y(1) if treated, Y(0) if not.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Individual effect Y(1) − Y(0); average effect ATE = E[Y(1) − Y(0)].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 only ever observe one of the two — the fundamental problem of causal inference.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Identification asks: when does the observable difference equal the causal one?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Missing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Causal inference = a missing-data problem. The counterfactual is the missing cell.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LANGUAGE B · PEARL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Causal graphs: nodes and arrows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DAG encodes assumptions you can argue about.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Arrows = direct causes; missing arrows = assumptions of no direct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Graph rules (d-separation) tell you what to adjust for.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Transparent, testable, and arguable with collaborators.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Our 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Graphs to decide what to adjust for; potential outcomes to define and estimate the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VOCABULARY YOU'LL USE ALL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effects we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Estimand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Definition / meaning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Average Treatment 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E[Y(1) − Y(0)] — effect if everyone were treated vs not.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ATT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…on the Treated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E[Y(1) − Y(0) | X=1] — effect among the actually treated.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Conditional 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E[Y(1) − Y(0) | covariates] — the basis for personalization.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LATE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Local ATE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Effect for 'compliers' — what an instrument identifies (Week 8).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SEPARATE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Identification ≠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Can the quantity be written as a function of the data, under stated assumptions?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logic/assumptions question.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Answered with DAGs or ignorability.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it fails, more data won't help.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Given identification, how well can we compute it from a finite, noisy sample?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statistics question.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Bias, variance, confidence intervals.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More data tightens the estimate.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real case +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a famous job-training study to the five-step routine you will repeat all term.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LALONDE (1986)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Does job training raise earnings?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question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Effect of a job-training program on later earnings.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Naïve comparison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Trainees vs a general survey sample → training looks harmful (they started poorer).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Experimental benchmark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A randomized arm gives the credible answer: a modest positive gain.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lesson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Observational adjustment must reproduce the experiment — we revisit it with matching, weighting &amp; DML.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CAUSAL ANALYSIS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Every lab and the capstone follow these five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Question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state the estimand &amp; population.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Assume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draw the DAG; list assumptions.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Identify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can the effect be recovered?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fit; report uncertainty.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Validate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sensitivity &amp; robustness checks.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Validation feeds back into your assumptions — the loop is iterative, not linear.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YOUR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Software you'll set up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dagitty, ggdag — graphs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MatchIt, WeightIt, cobalt — adjustment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AER, fixest — IV &amp; panel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rdrobust, did, tidysynth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grf, DoubleML — modern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DoWhy — end-to-end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EconML, CausalML — effects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statsmodels, linearmodels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causal-learn — discovery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pandas, scikit-learn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Reproducibility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Git + GitHub for everything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Quarto / Jupyter notebooks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Set a random seed; log versions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One-command rebuild of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Question → Assume → Identify → Estimate → Validate.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install the toolkit, push your first commit, and prove confounding to yourself in eight lines of code.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