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CAUSAL INFERENCE IN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72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1" i="0">
                <a:solidFill>
                  <a:srgbClr val="5B9BD5"/>
                </a:solidFill>
                <a:latin typeface="Calibri"/>
              </a:rPr>
              <a:t>Block III — Quasi-experimental designs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Regression Discontinuity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976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D7DEEA"/>
                </a:solidFill>
                <a:latin typeface="Calibri"/>
              </a:rPr>
              <a:t>Just above vs. just below a cutoff is almost a coin flip — so the cutoff hands you a local experiment.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7F8694"/>
                </a:solidFill>
                <a:latin typeface="Calibri"/>
              </a:rPr>
              <a:t>Week 9   ·   4-credit graduate seminar   ·   theory + assumptions + code + a real 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What we will cover in Week 9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94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The cutoff idea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 known threshold turns an assignment rule into a local experiment.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Sharp vs. fuzzy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Deterministic step versus a jump in treatment probability.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Continuity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The one assumption RD rests on — and local randomization.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920240"/>
            <a:ext cx="53949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Estimation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Local polynomials and the bias–variance bandwidth choice.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Validity checks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McCrary density, placebo cutoffs, donut-hole robustness.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2F6DB5"/>
                </a:solidFill>
                <a:latin typeface="Calibri"/>
              </a:rPr>
              <a:t>Two cases + lab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 scholarship cutoff, a clinical threshold, then code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WHERE WE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Block III: designs that borrow an experiment from the world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Adjustment methods (Block II) need every confounder measured — a strong, often unmet, demand.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Quasi-experimental designs instead exploit how treatment was assigned to mimic randomization.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Week 8 used an instrument; this week the instrument is a cutoff.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RD's appeal: the identifying assumption is unusually weak and unusually checkable.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price: the effect is LOCAL — it speaks only for units near the cutoff.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One-line idea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If a rule treats everyone above a threshold and no one below, compare units just above to units just below.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Cutoffs are everywhere once you look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Scholarships and admissions: a test score ≥ a passing mark.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Clinical guidelines: treat if a biomarker crosses a threshold.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Policy: benefits that switch on at an income or age line.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Elections: who wins a seat at 50% of the vote.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Each rule hands you a comparison the world set up for free.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Running variable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The score, biomarker, age, or vote share that the cutoff is applied to. Call it 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cutoff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Far from the threshold, treated and untreated units differ. Right at it, they are nearly interchangeable.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INTUITION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Just above vs. just below is almost a coin flip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student scoring 90.1 and one scoring 89.9 are essentially the same student.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But one is admitted and one is not — the cutoff alone separates them.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So any difference in their later outcomes is the program, not the students.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This is a randomized experiment the assignment rule ran for you.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It only holds NEAR the cutoff — that is the catch we keep returning 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Estimand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The effect for units AT the cutoff — not the average over everyone.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Two students one point apart are the same student; only the cutoff differs. So the jump at the cutoff is the treatment.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Regression discontinuity turns a bureaucratic threshold into a local experiment — the design's whole power and its whole limitation.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Sharp vs. fuzzy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Does crossing the cutoff DETERMINE treatment, or merely make it more likely?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TWO REGIMES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Sharp and fuzzy designs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39496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SHARP 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F6DB5"/>
                </a:solidFill>
                <a:latin typeface="Calibri"/>
              </a:rPr>
              <a:t>D is a step at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Everyone above c treated; no one below.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P(D=1) jumps 0 → 1 at the cutoff.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outcome jump IS the effect.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Estimand: ATE for units at 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920240"/>
            <a:ext cx="539496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920240"/>
            <a:ext cx="539496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02996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FUZZY 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974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1">
                <a:solidFill>
                  <a:srgbClr val="2A9D8F"/>
                </a:solidFill>
                <a:latin typeface="Calibri"/>
              </a:rPr>
              <a:t>P(D) jumps at 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200400"/>
            <a:ext cx="5029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Crossing c only raises the chance of treatment.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e.g. enrollment 0.2 → 0.7 at c.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Scale the outcome jump by the treatment jump.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Estimand: a LATE (compliers).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FUZZY ESTIMATION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Fuzzy RD is IV at the cutoff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Reduced form: the jump in the OUTCOME at c.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First stage: the jump in TREATMENT probability at c.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Effect = reduced form ÷ first stage — a Wald ratio.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Identical algebra to the instrumental-variables estimator of Week 8.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It identifies a LATE: the effect for units moved across treatment by crossing c.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Why divide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If only half the above-cutoff units actually take treatment, the outcome jump is half the per-treated effect. Dividing restores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TWO DESIGNS, SIDE BY SIDE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What jumps, and what you estimate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13716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Design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What jumps at c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Estimator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Identifies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Sharp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Treatment 0 →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Jump in 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ATE at the cutoff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732"/>
                          </a:solidFill>
                        </a:rPr>
                        <a:t>Fuzzy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P(treatment), e.g. .2 → .7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Jump-Y ÷ jump-P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732"/>
                          </a:solidFill>
                        </a:rPr>
                        <a:t>LATE (compliers)</a:t>
                      </a:r>
                    </a:p>
                  </a:txBody>
                  <a:tcPr>
                    <a:solidFill>
                      <a:srgbClr val="ECEE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Calibri"/>
              </a:rPr>
              <a:t>Same backbone:  </a:t>
            </a:r>
            <a:r>
              <a:rPr sz="1400" b="0" i="0">
                <a:solidFill>
                  <a:srgbClr val="222732"/>
                </a:solidFill>
                <a:latin typeface="Calibri"/>
              </a:rPr>
              <a:t>Both read a discontinuity at c; fuzzy just rescales it by the first stage.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continuity assumption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RD does not assume random assignment. It assumes the no-treatment world would be smooth at the cutoff.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IDENTIFYING ASSUMPTION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Continuity at the cutoff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Assume E[Y(0) | R] and E[Y(1) | R] are continuous in R at c.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In words: absent treatment, the outcome would pass smoothly through the cutoff.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Then the ONLY thing that changes discontinuously at c is treatment.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So a jump in observed Y at c must be the treatment effect.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This is weaker and more transparent than 'no unmeasured confounders.'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Local randomization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Stronger sibling view: in a tiny window around c, which side you fall on is as good as random.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WHAT CAN GO WRONG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Threats to continuity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505200" cy="640080"/>
          </a:xfrm>
          <a:prstGeom prst="rect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Manipulation / sorting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Units precisely control R and jump the cutoff.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two sides stop being comparable.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Caught by the density test.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816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28160" y="1920240"/>
            <a:ext cx="3505200" cy="6400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104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A coinciding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104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Another program uses the SAME cutoff.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second thing jumps at c.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The jump mixes two effects.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07680" y="1920240"/>
            <a:ext cx="3505200" cy="429768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07680" y="1920240"/>
            <a:ext cx="3505200" cy="64008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0560" y="2029968"/>
            <a:ext cx="3139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Functional-form error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0560" y="2743200"/>
            <a:ext cx="31394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global polynomial invents a jump.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Curvature masquerades as a discontinuity.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Caught by placebo cutoffs.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Estimation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Fit the relationship locally on each side of the cutoff — then read off the gap.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THE RECIPE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Local linear RD in four moves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Window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keep points within bandwidth h of the cutoff c.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Fit each side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a separate linear fit for R &lt; c and R ≥ c.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Read the gap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the difference of fitted intercepts at c is the jump.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Stress-test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vary h; run placebo, donut, and density checks.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In practice one regression with a treatment dummy and its interaction with (R−c) does all of steps 2–3 at once.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A WARNING WORTH A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Local, not global — never trust a high-order fit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global high-order polynomial uses faraway points to set the value at c.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Curvature in the tails can manufacture a jump that isn't there.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Gelman &amp; Imbens: avoid high-order global polynomials in RD.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Trust points NEAR the cutoff; fit them with a line or a quadratic.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Rule of thumb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Linear or quadratic, local, within a sensible bandwidth — and report the bandwidth.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CHOOSING 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The bandwidth is a bias–variance dial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Wide h: many points, low variance — but the line reaches curvature and biases the jump.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Narrow h: little bias from curvature — but few points, so the estimate is noisy.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Report the estimate across a range and show it is stable.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Data-driven optimal bandwidths (e.g. rdrobust) automate the tradeoff.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What to show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An estimate-vs-bandwidth plot. A flat middle region is the reassuring picture.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Validity checks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An RD estimate is only as credible as the checks you run around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CHECK 1 · MANIPULATION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The McCrary density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If units sort across the cutoff, the density of R spikes just above c.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Estimate the density on each side and test for a jump at c.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Smooth density ⇒ no evidence of manipulation (reassuring).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A spike just above c ⇒ self-selection; the two sides aren't comparable.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Tooling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rddensity (R) implements the formal Cattaneo–Jansson–Ma version of the test.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CHECKS 2 &amp; 3 · FALSIFICATION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Placebo cutoffs and the donut hole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Placebo cutoff: re-run the estimator where no treatment changes — it should return ~0.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A non-zero placebo 'effect' means you're reading curvature, not treatment.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Donut hole: drop a tiny window right at c and re-estimate.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Stable ⇒ the effect isn't an artifact of heaping or manipulation at c.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Also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Pre-determined covariates should NOT jump at c — they're a placebo outcome.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Continuity is an assumption, but its fingerprints — smooth density, smooth covariates, zero placebo effects — are all checkable.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This is why RD is among the most trusted quasi-experimental designs: the thing you assume leaves testable traces.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Two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A scholarship cutoff and a clinical treatment threshold — the same logic in different worlds.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CASE A · A SCHOLARSHIP CUTOFF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Does a merit scholarship raise graduation rates?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Running variable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a test score; the award needs score ≥ a published cutoff.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Design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sharp if the award is automatic; fuzzy if students must accept and some don't.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Check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density smooth at the cutoff? scores aren't easily gamed to the decimal.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Read-off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the jump in graduation at the cutoff is the scholarship's local effect.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CASE B · A CLINICAL THRESHOLD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Does treating at a biomarker cutoff help patients?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201168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Running variable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a biomarker; guidelines treat at or above a threshold.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8036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88036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Design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often FUZZY: clinicians use judgment, so treatment probability only jumps.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74904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74904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4904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Check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can readings be nudged across the line? test the density for sorting.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617720"/>
            <a:ext cx="640080" cy="758952"/>
          </a:xfrm>
          <a:prstGeom prst="ellipse">
            <a:avLst/>
          </a:prstGeom>
          <a:solidFill>
            <a:srgbClr val="2F6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617720"/>
            <a:ext cx="64008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617720"/>
            <a:ext cx="100584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F2A44"/>
                </a:solidFill>
                <a:latin typeface="Calibri"/>
              </a:rPr>
              <a:t>Read-off  </a:t>
            </a:r>
            <a:r>
              <a:rPr sz="1500" b="0" i="0">
                <a:solidFill>
                  <a:srgbClr val="222732"/>
                </a:solidFill>
                <a:latin typeface="Calibri"/>
              </a:rPr>
              <a:t>— scale the outcome jump by the treatment jump (a Wald ratio).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1">
                <a:solidFill>
                  <a:srgbClr val="7F8694"/>
                </a:solidFill>
                <a:latin typeface="Calibri"/>
              </a:rPr>
              <a:t>Same machinery: a running variable, a cutoff, a jump — and the checks that earn 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377440"/>
            <a:ext cx="164592" cy="18288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9A23B"/>
                </a:solidFill>
                <a:latin typeface="Calibri"/>
              </a:rPr>
              <a:t>PART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To the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9875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1">
                <a:solidFill>
                  <a:srgbClr val="C7D2E2"/>
                </a:solidFill>
                <a:latin typeface="Calibri"/>
              </a:rPr>
              <a:t>Simulate a known jump, recover it, then try to break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9A23B"/>
                </a:solidFill>
                <a:latin typeface="Calibri"/>
              </a:rPr>
              <a:t>LAB 6 PREVIEW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1F2A44"/>
                </a:solidFill>
                <a:latin typeface="Calibri"/>
              </a:rPr>
              <a:t>What you'll do this week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1280160" cy="38100"/>
          </a:xfrm>
          <a:prstGeom prst="rect">
            <a:avLst/>
          </a:prstGeom>
          <a:solidFill>
            <a:srgbClr val="E9A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70408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Simulate a sharp RD with a KNOWN jump and recover it by local linear regression.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Sweep the bandwidth and watch bias appear as the window widens.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Run placebo cutoffs (expect ~0) and a donut-hole check (expect stability).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800" b="1" i="0">
                <a:solidFill>
                  <a:srgbClr val="E9A23B"/>
                </a:solidFill>
                <a:latin typeface="Calibri"/>
              </a:rPr>
              <a:t>—  </a:t>
            </a:r>
            <a:r>
              <a:rPr sz="1800" b="0" i="0">
                <a:solidFill>
                  <a:srgbClr val="222732"/>
                </a:solidFill>
                <a:latin typeface="Calibri"/>
              </a:rPr>
              <a:t>Sketch a McCrary-style density check for manipulation.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7F8694"/>
                </a:solidFill>
                <a:latin typeface="Calibri"/>
              </a:rPr>
              <a:t>·  </a:t>
            </a:r>
            <a:r>
              <a:rPr sz="1500" b="0" i="0">
                <a:solidFill>
                  <a:srgbClr val="44546A"/>
                </a:solidFill>
                <a:latin typeface="Calibri"/>
              </a:rPr>
              <a:t>Then a FUZZY RD: scale the reduced form by the first stage to recover the truth.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874519"/>
            <a:ext cx="3840480" cy="3291840"/>
          </a:xfrm>
          <a:prstGeom prst="rect">
            <a:avLst/>
          </a:prstGeom>
          <a:solidFill>
            <a:srgbClr val="EC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874519"/>
            <a:ext cx="91440" cy="32918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205740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Ground truth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4152" y="2606040"/>
            <a:ext cx="33832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732"/>
                </a:solidFill>
                <a:latin typeface="Calibri"/>
              </a:rPr>
              <a:t>Because you set the jump in code, you can assert your estimate recovers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18872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000" b="1" i="0">
                <a:solidFill>
                  <a:srgbClr val="E9A23B"/>
                </a:solidFill>
                <a:latin typeface="Calibri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Window · fit each side · read the gap · stress-test.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93776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 i="1">
                <a:solidFill>
                  <a:srgbClr val="C7D2E2"/>
                </a:solidFill>
                <a:latin typeface="Calibri"/>
              </a:rPr>
              <a:t>Next week we trade a cutoff in space for a break in time: difference-in-differences and panel methods. See you in the lab.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Causal Inference in Practice   ·   Week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640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