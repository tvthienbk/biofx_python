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CAUSAL INFERENCE 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5B9BD5"/>
                </a:solidFill>
                <a:latin typeface="Calibri"/>
              </a:rPr>
              <a:t>Block IV — Modern methods &amp; application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Advanced Topics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D7DEEA"/>
                </a:solidFill>
                <a:latin typeface="Calibri"/>
              </a:rPr>
              <a:t>Mediation, sensitivity analysis, time-varying treatments, and discovering structure from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7F8694"/>
                </a:solidFill>
                <a:latin typeface="Calibri"/>
              </a:rPr>
              <a:t>Week 14   ·   4-credit graduate seminar   ·   theory + assumptions + code + a real case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What we will cover in Week 14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3949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Beyond the 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Four questions modern causal inference takes seriously.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Mediation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Splitting a total effect into direct and indirect (NDE / NIE).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Sensitivity analysis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E-values and Rosenbaum bounds — how fragile is the result?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920240"/>
            <a:ext cx="53949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g-methods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Time-varying treatments and the g-formula.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Causal discovery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PC, GES and NOTEARS — learning the graph from data.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Transportability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When an effect carries to a new population.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WHERE WE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The average effect was only the beginning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Most of the term estimated one number: the average treatment effect under a fixed treatment.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Real questions push further: through what mechanism? how fragile? what if treatment evolves? what is the graph?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This week is a survey — breadth over depth.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Each topic is a doorway to its own literature and its own course.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Goal: know what each tool does, what it assumes, and when to reach for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Theme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Four advanced questions, four tools. None replaces the workflow — each extends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0" b="1" i="0">
                <a:solidFill>
                  <a:srgbClr val="E9A23B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An average effect tells you that something works. It does not tell you how, how sure, or for whom.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C7D2E2"/>
                </a:solidFill>
                <a:latin typeface="Calibri"/>
              </a:rPr>
              <a:t>Mediation answers 'how', sensitivity analysis answers 'how sure', g-methods handle 'over time', and discovery asks what the structure even 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Mediation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Decomposing a total effect into the part that flows through a mediator and the part that does not.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Through what mechanism does X affect Y?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drug lowers stroke risk. How much is via blood pressure, and how much by some other route?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Total effect splits into a DIRECT path X → Y and an INDIRECT path X → M → Y.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Mediation analysis quantifies each — central to understanding mechanism, not just impact.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modern, counterfactual definitions are the natural direct and indirect effects.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Why it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If most of the effect is indirect, intervene on the mediator. If direct, the mediator is a red herring.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TWO NATURAL EFFECTS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Natural direct vs. natural indirect effect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350520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NDE — direct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313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2F6DB5"/>
                </a:solidFill>
                <a:latin typeface="Calibri"/>
              </a:rPr>
              <a:t>hold M at its untreated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Effect of X with M frozen at M(0).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route that does NOT go through M.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In linear models: the X coefficient when M is in the model.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816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8160" y="1920240"/>
            <a:ext cx="350520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104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NIE — indirect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1040" y="2697480"/>
            <a:ext cx="313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2A9D8F"/>
                </a:solidFill>
                <a:latin typeface="Calibri"/>
              </a:rPr>
              <a:t>move M from M(0) to M(1)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1040" y="32004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Effect of shifting M as X would, holding X fixed.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route X → M → 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In linear models: (X→M) × (M→Y), the product method.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768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7680" y="1920240"/>
            <a:ext cx="3505200" cy="64008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056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Together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0560" y="2697480"/>
            <a:ext cx="313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E9A23B"/>
                </a:solidFill>
                <a:latin typeface="Calibri"/>
              </a:rPr>
              <a:t>TE = NDE + NIE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560" y="32004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They sum to the total effect (no interaction).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Proportion mediated = NIE / TE.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Difference and product methods agree.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CATCH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Mediation needs a fourth no-confounding assumption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Even if X is randomized, the mediator M is NOT randomized.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You need no unmeasured confounding of the M → Y relationship — easy to forget.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Worse: a mediator–outcome confounder AFFECTED by treatment breaks simple regression.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That exact structure is the time-varying problem in Part 3.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Honesty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Mediation is the most assumption-hungry tool of the week. Report the assumptions, not just the percentages.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Sensitivity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Every observational estimate assumes no unmeasured confounding. Sensitivity analysis asks how fragile that assumption makes the conclusion.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How strong would a hidden confounder have to be?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We can never prove 'no unmeasured confounding.' We CAN ask what it would take to overturn the result.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robust finding survives plausible hidden confounding; a fragile one does not.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Two workhorses: the E-value (for risk ratios) and Rosenbaum bounds (for matched designs).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This turns an unfalsifiable worry into a reportable number.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Reframe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Don't ask 'is there unmeasured confounding?' Ask 'how much would be needed to change my answer?'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E-VALUE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One number for the strength of confounding needed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For an observed risk ratio RR ≥ 1:  E = RR + √(RR·(RR−1)).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(If RR &lt; 1, first take 1/RR.)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It is the minimum association a confounder must have with BOTH treatment and outcome to explain the effect away.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RR = 2 gives E ≈ 3.41: a confounder would need to roughly triple both odds, beyond every measured covariate.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No assumption about the confounder's prevalence — its simplicity is why it is everywhere.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Read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Bigger E-value = more robust. An E-value near 1 means a whiff of confounding could erase the finding.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E-VALUE GROWS WITH EFFECT 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Risk ratio vs. confounding needed to nullify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64240" cy="2286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Observed RR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E-value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Reading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1.2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1.69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Modest effect — a moderate confounder could explain it.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2.0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3.41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Needs a strong confounder on both arms.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3.9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7.26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Very robust — implausibly strong confounding required.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1.0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1.00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No effect, nothing to explain away.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1500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Rosenbaum bounds:  </a:t>
            </a:r>
            <a:r>
              <a:rPr sz="1400" b="0" i="0">
                <a:solidFill>
                  <a:srgbClr val="222732"/>
                </a:solidFill>
                <a:latin typeface="Calibri"/>
              </a:rPr>
              <a:t>The matched-design cousin: report the smallest Γ (hidden bias in assignment) at which significance is lost.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g-methods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When treatment changes over time and a confounder is itself affected by prior treatment, ordinary regression has no right answer.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Time-varying treatment, time-varying confounding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Treatment is given repeatedly: A0 then A1, with a covariate L1 measured in between.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L1 is a confounder of A1 (clinicians react to it) AND a consequence of A0 (treatment moved it).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So L1 is a confounder and a mediator at the same time.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This is the rule, not the exception, in longitudinal and clinical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Picture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A0 → L1 → A1, with L1 → Y and A0 → Y. The arrow A0 → L1 is what causes the trouble.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WHY REGRESSION FAILS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Every single regression is wrong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350520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Adjust for L1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313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2F6DB5"/>
                </a:solidFill>
                <a:latin typeface="Calibri"/>
              </a:rPr>
              <a:t>Y ~ A0 + A1 + L1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Correct for A1 (L1 confounds it).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But L1 is on the A0 → L1 → Y path.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Over-control: blocks part of A0's effect.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816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8160" y="1920240"/>
            <a:ext cx="350520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104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Omit L1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1040" y="2697480"/>
            <a:ext cx="313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2A9D8F"/>
                </a:solidFill>
                <a:latin typeface="Calibri"/>
              </a:rPr>
              <a:t>Y ~ A0 + A1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1040" y="32004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Avoids blocking A0's path.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But now A1 is confounded by L1.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Bias the other way.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768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7680" y="1920240"/>
            <a:ext cx="3505200" cy="64008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056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The verdict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0560" y="2697480"/>
            <a:ext cx="313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E9A23B"/>
                </a:solidFill>
                <a:latin typeface="Calibri"/>
              </a:rPr>
              <a:t>no fixed coefficient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560" y="32004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L1 must be both in and out.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Impossible for one regression.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Need standardization — the g-formula.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G-FORMULA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Standardize by simulating the intervention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201168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Model the history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how L1 responds to A0, and how Y responds to A0, A1, L1.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8036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8036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Fix a plan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e.g. always-treat (A0=A1=1) vs never-treat (A0=A1=0).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74904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4904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Simulate forward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draw L1 under the plan, then the outcome, breaking L1's link to assignment.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61772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61772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61772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Average &amp; contrast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the mean outcome under each plan; their difference is the effect.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7F8694"/>
                </a:solidFill>
                <a:latin typeface="Calibri"/>
              </a:rPr>
              <a:t>Cousins: IPW / marginal structural models and g-estimation solve the same problem by re-weighting or by structural nested models.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0" b="1" i="0">
                <a:solidFill>
                  <a:srgbClr val="E9A23B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The variable you are most tempted to control for is the one that destroys your estimate.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C7D2E2"/>
                </a:solidFill>
                <a:latin typeface="Calibri"/>
              </a:rPr>
              <a:t>A confounder affected by prior treatment needs g-methods, not regression. Timing and structure decide the analysis — never a covariate checklist.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Causal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Flip the workflow: instead of assuming a graph, try to learn its structure from the data itself.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AMBITION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Can the data tell us the graph?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All term we ASSUMED a DAG. Discovery asks whether we can LEARN one.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Constraint-based (PC): test conditional independences, prune and orient edges.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Score-based (GES): search over graphs to optimize a fit score.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Continuous (NOTEARS): recast the search as smooth optimization with an acyclicity penalty.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Use with 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Discovery proposes hypotheses to test and refine — it does not hand you a proven causal model.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HOW PC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The PC algorithm, in four moves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201168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Start complete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connect every pair of variables.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8036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8036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Prune edges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remove X–Y whenever X ⫫ Y given some conditioning set.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74904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4904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Orient colliders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find unshielded X → K ← Y patterns from the independences.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61772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61772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61772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Propagate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apply orientation rules; return a CPDAG (a partly-directed graph).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HARD LIMIT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You recover an equivalence class, not a unique DAG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X → Y → Z, X ← Y ← Z and X ← Y → Z all imply the same independence: X ⫫ Z | Y.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Observational data cannot tell these three apart — they are Markov equivalent.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PC therefore returns a CPDAG: some edges directed, some left undirected.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To orient the rest you need interventions, a time order, or extra assumptions (non-Gaussian noise, etc.).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Honest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Discovery narrows the candidates; domain knowledge and experiments finish the job.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Transportability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An effect learned in one population is not automatically the effect in another. When does it carry over?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Does a City-A effect apply to City B?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You estimated a clean effect in one population. A decision-maker wants the number for a different one.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Naively reusing it assumes the two worlds are causally identical — they rarely are.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Transportability formalizes which differences are harmless and which are fatal.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Encoded in a selection diagram: mark the nodes whose mechanisms differ between populations.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Data 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The broader programme: combine experimental and observational data across settings to answer a target question.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WHICH DIFFERENCES MATTER?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Harmless vs. fatal population differences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39496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Transports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2F6DB5"/>
                </a:solidFill>
                <a:latin typeface="Calibri"/>
              </a:rPr>
              <a:t>re-weight and 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Differ only in the mix of covariates the effect conditions 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e.g. City B is simply younger.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Re-weight to the target's covariate distribution.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920240"/>
            <a:ext cx="539496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Does not transport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974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2A9D8F"/>
                </a:solidFill>
                <a:latin typeface="Calibri"/>
              </a:rPr>
              <a:t>re-estimate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004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mechanism on the identifying path differs.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e.g. training → jobs works differently in City B.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raw effect cannot be carried over.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Pulling it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Four tools, one discipline: state assumptions, estimate honestly, stress-test the answer.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WEEK ON ONE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Four questions, four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64240" cy="2286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Question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Tool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Key idea / limit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Through what mechanism?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Mediation (NDE/NIE)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Split TE = direct + indirect; needs M–Y confounding control.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How fragile?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E-value / Rosenbaum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Strength of unmeasured confounding needed to explain it away.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Treatment over time?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g-formula / IPW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Standardize by simulating the plan; regression alone fails.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What is the graph?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PC / GES / NOTEARS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Learn structure — but only up to a Markov equivalence class.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1500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Plus:  </a:t>
            </a:r>
            <a:r>
              <a:rPr sz="1400" b="0" i="0">
                <a:solidFill>
                  <a:srgbClr val="222732"/>
                </a:solidFill>
                <a:latin typeface="Calibri"/>
              </a:rPr>
              <a:t>Transportability decides when any of these answers carries to a new population.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PRACTICAL GUIDANCE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When to reach for each tool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Reviewer asks 'how robust?' → report an E-value alongside the estimate.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Stakeholder asks 'why does it work?' → mediation, with its assumptions stated.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Longitudinal treatment with feedback → g-methods, full stop.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No credible graph and many variables → discovery to generate hypotheses, then test them.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Applying a result elsewhere → check transportability before you quote the number.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Capstone preview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Next week you assemble the whole workflow into one reproducible analysis — and communicate it honestly.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0" b="1" i="0">
                <a:solidFill>
                  <a:srgbClr val="E9A23B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Beyond the average effect: how, how sure, over time, and what structure.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C7D2E2"/>
                </a:solidFill>
                <a:latin typeface="Calibri"/>
              </a:rPr>
              <a:t>These are survey tools — each a doorway. Next week we close the loop: reproducibility, communication, and the capstone. See you in the workshop.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