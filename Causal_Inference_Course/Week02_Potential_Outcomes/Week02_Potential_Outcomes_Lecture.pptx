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 — Foundations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Potential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The Neyman–Rubin framework: counterfactuals, estimands, and the assumptions that license a causal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2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Potential outcomes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Y(1) and Y(0): two worlds for every unit.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The fundamental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Why the individual effect is never observed.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Estimands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ATE, ATT, CATE — and stating the target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Identifying assumptions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SUTVA, consistency, exchangeability, positivity.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Randomization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assumption-light gold standard.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A real case +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Perry Preschool and identify vs. estimate.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RECAP &amp;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Last week's graphs, made into quantities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Week 1 gave us the vocabulary: confounder, mediator, collider, and P(Y | do(X)).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Graphs tell you WHAT to adjust for. Potential outcomes tell you WHAT you are estimating and whether it is recoverable.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Today we make the counterfactual a concrete number: Y(1) − Y(0).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causal content, a complementary dialect — Neyman–Rubin alongside Pearl.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By the end you can state an estimand and defend the assumptions that identify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Graphs to decide what to adjust for; potential outcomes to define and estimate the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Potential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Two outcomes live inside every unit; the world reveals only one. Causal inference is the science of the missing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CORE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Y(1) and Y(0): two outcomes per unit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 each unit, imagine Y(1) if treated and Y(0) if not — both exist as quantities.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individual causal effect is the contrast Y(1) − Y(0).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Treatment doesn't create the effect from nothing; it selects which world we get to see.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'Effect' is always a comparison of two potential outcomes for the SAME unit.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= treatment (1/0), Y = observed outcome, Y(a) = potential outcome under treatment 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BOOKKEEPING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switching equation links worlds to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We observe Y = A·Y(1) + (1 − A)·Y(0) — only the column that matches the treatment taken.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Consistency is what lets us write Y = Y(A) at all.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other potential outcome becomes the counterfactual: real, but unobserved.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the observed dataset is the full science table with one cell per row erased.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Switching equation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Y = A·Y(1) + (1−A)·Y(0). Observation = selection, not creation.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WHAT NATURE 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science table (if only we could see 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Y(0)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Y(1)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Effect Y(1)−Y(0)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Ben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Dee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−1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Reality: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For each row you see exactly ONE of Y(0), Y(1) — the other is blacked out. That missing column is the whole challenge.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We never observe an individual causal effect. Not once. Not ever.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The fundamental problem of causal inference. The counterfactual is missing by construction — so we trade the individual for a population average we CAN recover.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fundamental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Causal inference is a missing-data problem. The fix is to stop chasing individuals and target an average.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FROM INDIVIDUAL TO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Give up the individual, target the population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Y(1) − Y(0) for one person is unknowable — its counterfactual is missing.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the AVERAGE E[Y(1) − Y(0)] can be recovered if groups are comparable.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Naively, E[Y(1)] ≈ mean Y among treated, E[Y(0)] ≈ mean Y among untreated.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That swap is legitimate ONLY when treated and untreated are exchangeable.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Key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Population averages are estimable; individual effects are not. State the average you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BIAS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the naive difference can lie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we want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E[Y(1)] − E[Y(0)]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units, both worlds.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treatment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What we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E[Y | A=1] − E[Y | A=0]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Different units in each arm.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Effect + baseline difference.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E[Y(0) | A=1] − E[Y(0) | A=0]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Selection / confounding bias.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Zero only if exchangeable.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Estimands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Name the quantity before you touch the data. Different estimands answer different questions — and need not be equal.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State the estimand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estimand is the precise quantity you want, defined before any model.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Fit-first analysis lets the software pick a weird weighted average you never chose.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question fixes the estimand; the estimand constrains the method.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Question → estimand → assumptions → identification → estimation.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Habit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If you can't write the estimand in one line, you don't yet know what you're estimating.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THREE YOU'LL USE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ATE, ATT, 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Estimand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Question it answers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Effect if EVERYONE were treated vs. not — policy-wide.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ATT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 | A=1]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Effect among those who actually got treated.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E[Y(1) − Y(0) | X=x]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Effect within a subgroup — basis for personalization.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Not interchangeable: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ATE and ATT coincide only under constant or randomly-spread effects. Say which you mean.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CHOOSING THE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ATE vs. ATT — a worked contrast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Ask the ATT when…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care about the people who took the treatment.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'Did the program help its enrollees?'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Evaluating a voluntary program.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Ask the ATE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You'd roll the treatment out to everyone.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'Should we mandate this for all?'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Including never-takers who may respond differently.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identifying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Four conditions turn an observed difference into a causal effect. Each does one job; drop one and identification fails.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ASSUMPTION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SUTVA — no interference, one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No interference: my treatment doesn't change your outcome.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One version of treatment: 'treated' means a single well-defined thing.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Breaks under spillovers (vaccines, networks) and ambiguous doses.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Lets us write a unit's Y(a) from its OWN a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Watch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Marketplaces, infectious disease, social networks — interference is the rule, not the exception.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ASSUMPTION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Consistency — observed equals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A = a then the observed Y equals that unit's Y(a): A = a ⇒ Y = Y(a).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Requires a well-defined intervention you could actually assign.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'Effect of obesity' fails it — too many versions, no single Y(1).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Connects the abstract potential outcome to the number in your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Could you write the treatment as a concrete protocol someone could administer? If not, fix the estimand.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ASSUMPTION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Conditional exchangeability (ignorability)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Within levels of measured X, treatment is independent of potential outcomes: Y(a) ⟂ A |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Equivalently: no unmeasured confounding given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the assumption you cannot verify from data — you defend it.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It is what 'adjust for confounders' is really buying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hard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Untestable. Argued from design and domain knowledge, stress-tested with sensitivity analysis (later weeks).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ASSUMPTION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Positivity (overlap)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Every covariate stratum has a real chance of each treatment: 0 &lt; P(A=1 | X) &lt; 1.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Without overlap there is literally no one to compare to.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Models 'fix' it silently by extrapolating — confident, and wrong.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Check it; if it fails, restrict the estimand to the overlap region.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Plot the propensity-score distributions by arm. Gaps at 0 or 1 are positivity violations.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HOW THE ASSUMPTIONS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From observed difference to the 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Consistency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ties Y to Y(A), so means are means of potential outcomes.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Exchangeability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makes the treated a fair stand-in for the untreated (given X).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Positivity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guarantees a comparison group exists in every stratum.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SUTVA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keeps each Y(a) well defined throughout.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All four together license E[Y|A=1,X]−E[Y|A=0,X], averaged over X, as the 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Randomization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assumption-light gold standard: a coin flip buys exchangeability without measuring a single confounder.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Randomization makes A ⟂ {Y(1), Y(0)}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Assigning treatment by chance makes it independent of every unit trait — measured or not.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 Y(a) ⟂ A holds UNCONDITIONALLY: exchangeability for free.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simple difference in group means is then unbiased for the 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No need to defend 'no unmeasured confounding' — design guarantees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Gold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Randomized experiments physically realize do(A) — the cleanest route to a causal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STILL NOT FREE OF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randomization does and does not buy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Gives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Exchangeability by design.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Balance of measured AND unmeasured confounders (in expectation).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unbiased difference-in-means.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Still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SUTVA, consistency, positivity.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Compliance, low attrition, no peeking.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Enough n — chance imbalance shrinks with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Identification vs.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Two distinct jobs. One is logic; the other is statistics. Conflating them is a classic error.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SEPARATE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Can we, vs. how well can we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Can the estimand be written from the observable distribution at all?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logic/assumptions question.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Answered with potential outcomes or DAGs.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it fails, more data won't help.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Given identification, how well from a finite sample?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statistics question.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Bias, variance, confidence intervals.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More data tightens the estimate.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No identification, no amount of data. No estimation, no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First prove the effect is recoverable under your assumptions; only then worry about computing it precisely. Skipping the first step is how confident, wrong answers are made.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real case +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the Perry Preschool experiment to a clean estimand for a clinical trial.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PERRY PRESCHOOL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A randomized early-childhood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question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Effect of a preschool program on later-life outcomes for disadvantaged children.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design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Children randomized to program vs. control — exchangeability by construction.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estimand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ATE on outcomes like graduation, earnings, arrests — stated up front.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The payoff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Credible long-run causal effects BECAUSE randomization broke confounding with family background.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APPLICATION · A CLINICAL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Define the estimand before you enroll a patient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Population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who is eligible; that fixes whether ATE or ATT is the target.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Treatment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a concrete, well-defined protocol (consistency).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Outcome &amp; contrast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Y(1) − Y(0) on a pre-specified endpoint.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Assumptions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randomization for exchangeability; check positivity and SUTVA.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estimand goes in the protocol BEFORE data — the discipline this whole week is teaching.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RECURRING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Every lab and the capstone follow these five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Question — state the estimand and the population precisely.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Assume — list SUTVA, consistency, exchangeability, positivity.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Identify — can the effect be written from observable data?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Estimate — compute it; report uncertainty.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Validate — sensitivity and robustness checks feed back to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Same loop all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Question → Assume → Identify → Estimate → Validate. This week lives in the first three.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State the estimand. Defend the assumptions. Then, and only then, estimate.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build the science table in code, watch randomization recover the ATE, and watch a confounded comparison miss it. See you in the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