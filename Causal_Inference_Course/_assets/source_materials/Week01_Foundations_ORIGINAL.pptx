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Margarine consumption</c:v>
                </c:pt>
              </c:strCache>
            </c:strRef>
          </c:tx>
          <c:spPr>
            <a:solidFill>
              <a:srgbClr val="D7625F"/>
            </a:solidFill>
            <a:ln w="38100" cap="flat">
              <a:solidFill>
                <a:srgbClr val="D762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7625F"/>
              </a:solidFill>
              <a:ln w="9525" cap="flat">
                <a:solidFill>
                  <a:srgbClr val="D762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8.2</c:v>
                </c:pt>
                <c:pt idx="1">
                  <c:v>7</c:v>
                </c:pt>
                <c:pt idx="2">
                  <c:v>6.5</c:v>
                </c:pt>
                <c:pt idx="3">
                  <c:v>5.3</c:v>
                </c:pt>
                <c:pt idx="4">
                  <c:v>5.2</c:v>
                </c:pt>
                <c:pt idx="5">
                  <c:v>4</c:v>
                </c:pt>
                <c:pt idx="6">
                  <c:v>4.6</c:v>
                </c:pt>
                <c:pt idx="7">
                  <c:v>4.5</c:v>
                </c:pt>
                <c:pt idx="8">
                  <c:v>4.2</c:v>
                </c:pt>
                <c:pt idx="9">
                  <c:v>3.8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Divorce rate (Maine)</c:v>
                </c:pt>
              </c:strCache>
            </c:strRef>
          </c:tx>
          <c:spPr>
            <a:solidFill>
              <a:srgbClr val="0E8388"/>
            </a:solidFill>
            <a:ln w="38100" cap="flat">
              <a:solidFill>
                <a:srgbClr val="0E83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8388"/>
              </a:solidFill>
              <a:ln w="9525" cap="flat">
                <a:solidFill>
                  <a:srgbClr val="0E83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4.7</c:v>
                </c:pt>
                <c:pt idx="2">
                  <c:v>4.6</c:v>
                </c:pt>
                <c:pt idx="3">
                  <c:v>4.4</c:v>
                </c:pt>
                <c:pt idx="4">
                  <c:v>4.3</c:v>
                </c:pt>
                <c:pt idx="5">
                  <c:v>4.1</c:v>
                </c:pt>
                <c:pt idx="6">
                  <c:v>4.2</c:v>
                </c:pt>
                <c:pt idx="7">
                  <c:v>4.2</c:v>
                </c:pt>
                <c:pt idx="8">
                  <c:v>4.2</c:v>
                </c:pt>
                <c:pt idx="9">
                  <c:v>4.1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A (open)</c:v>
                </c:pt>
              </c:strCache>
            </c:strRef>
          </c:tx>
          <c:spPr>
            <a:solidFill>
              <a:srgbClr val="0E83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520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stones</c:v>
                  </c:pt>
                  <c:pt idx="1">
                    <c:v>Large stones</c:v>
                  </c:pt>
                  <c:pt idx="2">
                    <c:v>Combined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</c:v>
                </c:pt>
                <c:pt idx="1">
                  <c:v>73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 B (keyhole)</c:v>
                </c:pt>
              </c:strCache>
            </c:strRef>
          </c:tx>
          <c:spPr>
            <a:solidFill>
              <a:srgbClr val="E8A1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520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stones</c:v>
                  </c:pt>
                  <c:pt idx="1">
                    <c:v>Large stones</c:v>
                  </c:pt>
                  <c:pt idx="2">
                    <c:v>Combined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</c:v>
                </c:pt>
                <c:pt idx="1">
                  <c:v>69</c:v>
                </c:pt>
                <c:pt idx="2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520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Frame the whole course in one line: we move from prediction (rung 1) to intervention and counterfactuals (rungs 2-3). The little graph in the corner — X, Y and a common cause Z — is the object we will spend the term learning to read and to exploit.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map of the lecture. Each card becomes a short section. Tell students that Week 1 is about intuition and vocabulary; the machinery (estimators) starts in earnest in Weeks 5-13.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deliverable skill, not the list of methods. The capstone asks exactly this: a real question, a defensible design, reproducible code, and an honest discussion of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students from non-quant backgrounds. The course is method-first and assumption-first; the math is motivated rather than proved. Point biomedical students to the MR and epidemiology 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rhythm repeats every week. The self-study packet (readings + worked solutions) is what lets students master the material at home. The capstone is the spine of the 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term builds: language first, then adjustment under unconfoundedness, then quasi-experimental designs that buy identification from structure, then modern ML and applications. Each block answers a different identification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out that all four questions involve a hypothetical intervention or a counterfactual world. Prediction models answer none of them directly. This is the gap the course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cleanest one-slide message of the week. A model can predict Y from X with high accuracy yet give the wrong sign for an intervention (e.g., asthma severity predicts being in the ICU, which predicts survival — but you would not 'prescribe' the ICU as treatment).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term's central tension: self-selection. The treated and untreated are not exchangeable. Every method we study is a different strategy for restoring exchangeability or for borrowing it from a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reframing is the intellectual heart of the course. The slogan is a starting point, not a stopping point. Identification = the assumptions under which an estimand becomes a function of observable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(plus pure chance) are the complete menu of how association arises without a direct causal path. Each maps to a graphical structure we will formalize in Week 4: a reversed arrow, a fork, and a collider that we accidentally condition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'spurious correlations' genre (Vigen) is funny but makes a serious multiple-comparisons point. Stylized numbers here. The lesson: a coincidental high correlation carries no interventional content whatsoever.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Reverse causation is often obvious in hindsight but easy to miss in fresh data. Temporal ordering helps but is not decisive (anticipation effects exist). The cure is a credible design or knowledge of the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counterintuitive idea in the course and a major reason naïve 'add more controls' regressions fail. We formalize colliders and the back-door criterion in Week 4; today plant the intuition.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Confounding is defined structurally (by the graph), not by a correlation test. This is why DAGs matter: they tell you which variables to adjust for and, equally important, which NOT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two paths: the front-door X→Y is the estimand; the back-door X←Z→Y is the bias. Total observed association = causal + back-door. Adjustment closes the back door. This single picture organizes Weeks 5-7.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toy example everyone knows — use it to introduce 'adjustment as stratification': within levels of the confounder, the spurious association vanishes. This is literally the adjustment (back-door) formula we derive in Week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and historically important confounding case. Stress the asymmetry: measured confounders are a statistics problem; unmeasured confounders are a design problem. This motivates IV, RD, DiD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of the 'good controls / bad controls' material (Cinelli, Forney &amp; Pearl). The choice of what to adjust for is a causal decision that requires a DAG; it cannot be made by looking at p-values or model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kidney-stone example next. Emphasize that aggregation vs stratification gives different answers and that both are arithmetically valid — the tie-break comes only from causal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classic Charig et al. 1986 data. A is better in small AND large stones, but B looks better combined because A was reserved for severe cases. Severity (stone size) is the confounder; the stratified answer is the causal one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numbers as the table, now visual. The combined bars hide that A's denominator is dominated by hard cases. Visual intuition for why marginal and conditional comparisons diverge.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punchline of the whole confounding section. If the grouping variable is a confounder, stratify. If it is a mediator on the causal path, do NOT stratify. Identical data; the DAG breaks the tie. This is why we learn DAGs in Week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Cartwright's slogan. The most important sentence of Week 1. Identification (assumptions) and estimation (data) are two separate jobs; conflating them is the root of most causal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Pearl &amp; Mackenzie's ladder (The Book of Why). Each rung answers questions the lower ones cannot. A purely predictive model — even a perfect one — is stuck on rung 1. Most of this course is about climbing to rung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an extremely accurate predictive model is still rung-1. Accuracy and causal validity are orthogonal. This often surprises ML-trained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do-operator is the formal hinge between rungs 1 and 2. Randomization makes do(X) and seeing-X coincide; without it we need the back-door/front-door machinery to bridge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Counterfactuals connect directly to potential outcomes (Week 2). The fundamental problem — we see only one of Y(1), Y(0) per unit — is what makes causal inference a missing-data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recurring equation of the course: data + assumptions = identification. The assumptions are the scarce, contestable ingredient. Methods differ mainly in WHICH assumptions they ask you to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of Week 2. Potential outcomes make the missing-data nature explicit and are ideal for defining estimands (ATE/ATT) and for experiments. Don't derive anything yet — just install the notation.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of Week 4. DAGs make assumptions visible and let you mechanically derive adjustment sets. They pair naturally with potential outcomes: the graph tells you which conditional independences justify the PO identification.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the 'Rubin vs Pearl' tension pragmatically: they are translations of each other for the problems in this course. Use whichever clarifies the step at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the estimand vocabulary now; we will choose among ATE/ATT/CATE/LATE deliberately for every method. The estimand is a modeling choice that precedes the estimator — a recurring discipline in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distinction prevents the most common mistake: throwing a fancy estimator at a non-identified problem. Always identify first (is the estimand even recoverable?), then estimate. Both are graded explicitly in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LaLonde's study is the field's canonical stress test: can observational methods recover an experimental answer? Dehejia &amp; Wahba revived it for propensity scores. We will run this exact comparison ourselves in Weeks 6-7 and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spine of the whole course. Pin it up. Notice estimation is only step 4 of 5 — students used to ML tend to jump straight there. The discipline is doing 1-3 first and 5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0 (this week) is purely environment setup: install both stacks, clone the course repo, run a hello-world causal estimate, and push to GitHub. Getting reproducibility right now saves pain at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five takeaways aloud; they are the exam-worthy core. Confirm everyone can access the repo. Tease Week 2: we formalize today's intuition with Y(1), Y(0) and prove what randomization buys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502920"/>
            <a:ext cx="603504" cy="603504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126480" y="1783080"/>
            <a:ext cx="603504" cy="603504"/>
          </a:xfrm>
          <a:prstGeom prst="ellipse">
            <a:avLst/>
          </a:prstGeom>
          <a:solidFill>
            <a:srgbClr val="0E8388"/>
          </a:solidFill>
          <a:ln w="12700">
            <a:solidFill>
              <a:srgbClr val="0E8388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818120" y="1783080"/>
            <a:ext cx="603504" cy="603504"/>
          </a:xfrm>
          <a:prstGeom prst="ellipse">
            <a:avLst/>
          </a:prstGeom>
          <a:solidFill>
            <a:srgbClr val="5BC0BE"/>
          </a:solidFill>
          <a:ln w="12700">
            <a:solidFill>
              <a:srgbClr val="5BC0BE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040880" y="1051560"/>
            <a:ext cx="-594360" cy="685800"/>
          </a:xfrm>
          <a:prstGeom prst="line">
            <a:avLst/>
          </a:prstGeom>
          <a:noFill/>
          <a:ln w="3175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680960" y="1051560"/>
            <a:ext cx="548640" cy="685800"/>
          </a:xfrm>
          <a:prstGeom prst="line">
            <a:avLst/>
          </a:prstGeom>
          <a:noFill/>
          <a:ln w="3175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766560" y="2084832"/>
            <a:ext cx="1005840" cy="0"/>
          </a:xfrm>
          <a:prstGeom prst="line">
            <a:avLst/>
          </a:prstGeom>
          <a:noFill/>
          <a:ln w="34925">
            <a:solidFill>
              <a:srgbClr val="5BC0BE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Foundations: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Causal Question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pPr indent="0" marL="0">
              <a:buNone/>
            </a:pPr>
            <a:r>
              <a:rPr lang="en-US" sz="15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4-credit graduate seminar   ·   theory + real cases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“what is associated with what” to “what happens if we intervene.”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 in Week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530352" cy="530352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00" y="1939260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causal?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worth asking are about intervention, not just patterns.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02152" y="160020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03320" y="1801368"/>
            <a:ext cx="530352" cy="530352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212" y="1939260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0832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≠ causation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0332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engines of spurious association.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55664" y="160020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56832" y="1801368"/>
            <a:ext cx="530352" cy="530352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724" y="1939260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24344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Confounding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656832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obstacle — and Simpson’s paradox.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20040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401568"/>
            <a:ext cx="530352" cy="530352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00" y="3539460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Ladder of causation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9808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Seeing, doing, imagining — three distinct rungs.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502152" y="320040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703320" y="3401568"/>
            <a:ext cx="530352" cy="530352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212" y="3539460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70832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frameworks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370332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 and causal graphs, previewed.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455664" y="320040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656832" y="3401568"/>
            <a:ext cx="530352" cy="530352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4724" y="3539460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24344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case + workflow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6656832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LaLonde job-training and the 5-step causal workflow.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COURSE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toolkit for answering causal questions with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by the end you can take a real dataset and a causal question, choose a credible identification strategy, estimate an effect, and defend it.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is taught as theory + assumptions + code + a real case study you can reproduce.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treat causal inference as a workflow, not a single regression: question → assumptions → identification → estimation → validation.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span tech experiments, economics &amp; policy, epidemiology, and biomedicine — the logic transfers across all of them.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2240280" cy="2788920"/>
          </a:xfrm>
          <a:prstGeom prst="roundRect">
            <a:avLst>
              <a:gd name="adj" fmla="val 4082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will be able to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85292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run, and critique a credible causal study end-to-end — and know when the data simply cannot answer the question.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IS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 &amp; what you bring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3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212848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304A"/>
                </a:solidFill>
              </a:rPr>
              <a:t>Probability &amp; statistics: expectation, variance, conditioning.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304A"/>
                </a:solidFill>
              </a:rPr>
              <a:t>Linear &amp; logistic regression (interpretation, not just fitting).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304A"/>
                </a:solidFill>
              </a:rPr>
              <a:t>Programming in R or Python; comfort with a data frame.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38728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will build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38728" y="2212848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304A"/>
                </a:solidFill>
              </a:rPr>
              <a:t>The potential-outcomes and DAG languages from scratch.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304A"/>
                </a:solidFill>
              </a:rPr>
              <a:t>Each estimator’s assumptions, diagnostics, and failure modes.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304A"/>
                </a:solidFill>
              </a:rPr>
              <a:t>A reproducible analysis habit (version control + notebooks).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required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7648" y="2212848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304A"/>
                </a:solidFill>
              </a:rPr>
              <a:t>Measure theory or advanced asymptotics (we motivate, not prove).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304A"/>
                </a:solidFill>
              </a:rPr>
              <a:t>Prior exposure to econometrics or epidemiology.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304A"/>
                </a:solidFill>
              </a:rPr>
              <a:t>A specific domain background — examples span several fields.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week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783080" cy="22860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1288" y="1920240"/>
            <a:ext cx="566928" cy="566928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689" y="20676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51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3063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≈45-slide deck: theory + a worked real case.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50008" y="2834640"/>
            <a:ext cx="192024" cy="0"/>
          </a:xfrm>
          <a:prstGeom prst="line">
            <a:avLst/>
          </a:prstGeom>
          <a:noFill/>
          <a:ln w="3810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542032" y="1691640"/>
            <a:ext cx="1783080" cy="22860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920240"/>
            <a:ext cx="566928" cy="566928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81" y="206764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33472" y="2651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651760" y="3063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notebook in R / Python; reproducible.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343400" y="2834640"/>
            <a:ext cx="192024" cy="0"/>
          </a:xfrm>
          <a:prstGeom prst="line">
            <a:avLst/>
          </a:prstGeom>
          <a:noFill/>
          <a:ln w="3810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535424" y="1691640"/>
            <a:ext cx="1783080" cy="22860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48072" y="1920240"/>
            <a:ext cx="566928" cy="566928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473" y="206764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26864" y="2651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set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645152" y="3063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theory + computation; due next week.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336792" y="2834640"/>
            <a:ext cx="192024" cy="0"/>
          </a:xfrm>
          <a:prstGeom prst="line">
            <a:avLst/>
          </a:prstGeom>
          <a:noFill/>
          <a:ln w="3810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528816" y="1691640"/>
            <a:ext cx="1783080" cy="22860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141464" y="1920240"/>
            <a:ext cx="566928" cy="566928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8865" y="206764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20256" y="2651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Self-study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638544" y="3063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readings + solutions for home review.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416052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EAF2F2"/>
          </a:solidFill>
          <a:ln w="12700">
            <a:solidFill>
              <a:srgbClr val="5BC0B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31520" y="42245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 </a:t>
            </a:r>
            <a:pPr indent="0" marL="0">
              <a:buNone/>
            </a:pPr>
            <a:r>
              <a:rPr lang="en-US" sz="12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20%  ·  Labs 25%  ·  Midterm 20%  ·  Capstone 30%  ·  Participation 5%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 OF THE TERM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Fifteen weeks, four blocks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642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219456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1 · The causal question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2 · Potential outcomes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3 · Randomized experiments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4 · Causal graphs (DAGs)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96896" y="150876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06624" y="16642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61488" y="219456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5 · Regression &amp; control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6 · Matching &amp; propensity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7 · Weighting &amp; doubly robust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45152" y="150876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6642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QUASI-EXPERIMENTS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19456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8 · IV &amp; Mendelian rand.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9 · Regression discontinuity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10 · Difference-in-differences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11 · Synthetic control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93408" y="150876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6642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&amp; APPLIED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0" y="219456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12 · Double / debiased ML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13 · Heterogeneous effects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14 · Advanced topics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15 · Capstone &amp; reporting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 &amp; capstone are the assessment hinges; the midterm covers Weeks 1–7.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16368" y="868680"/>
            <a:ext cx="694944" cy="0"/>
          </a:xfrm>
          <a:prstGeom prst="line">
            <a:avLst/>
          </a:prstGeom>
          <a:noFill/>
          <a:ln w="25400">
            <a:solidFill>
              <a:srgbClr val="0B6A6E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causation?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decision-relevant question is secretly a causal one — even when we phrase it as a prediction.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35240" y="3886200"/>
            <a:ext cx="713232" cy="713232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0680" y="4071640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  ·  Week 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that matter are causal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drug reduce mortality — or do healthier patients simply take it?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raising the minimum wage cost jobs?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new checkout flow increase purchases, or did we ship it in a good week?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this patient have survived had we treated earlier? (a counterfactual)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asks what would happen under an action — not merely what tends to co-occur.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2240280" cy="2788920"/>
          </a:xfrm>
          <a:prstGeom prst="roundRect">
            <a:avLst>
              <a:gd name="adj" fmla="val 4082"/>
            </a:avLst>
          </a:prstGeom>
          <a:solidFill>
            <a:srgbClr val="0B6A6E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shape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85292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we set treatment to value t, what happens to outcome Y?” — the do-operator we meet later today.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is not intervention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862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5B6B82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9304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2157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  </a:t>
            </a:r>
            <a:pPr indent="0" marL="0">
              <a:buNone/>
            </a:pPr>
            <a:r>
              <a:rPr lang="en-US" sz="1700" b="1" dirty="0">
                <a:solidFill>
                  <a:srgbClr val="0E83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 | X)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3520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0304A"/>
                </a:solidFill>
              </a:rPr>
              <a:t>Uses observed associations.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0304A"/>
                </a:solidFill>
              </a:rPr>
              <a:t>“Patients on this drug live longer.”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0304A"/>
                </a:solidFill>
              </a:rPr>
              <a:t>Great for forecasting &amp; triage.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0304A"/>
                </a:solidFill>
              </a:rPr>
              <a:t>Silent on what an action would do.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1554480"/>
            <a:ext cx="3886200" cy="3017520"/>
          </a:xfrm>
          <a:prstGeom prst="roundRect">
            <a:avLst>
              <a:gd name="adj" fmla="val 3030"/>
            </a:avLst>
          </a:prstGeom>
          <a:solidFill>
            <a:srgbClr val="15203A"/>
          </a:solidFill>
          <a:ln w="12700">
            <a:solidFill>
              <a:srgbClr val="15203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783080"/>
            <a:ext cx="566928" cy="566928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161" y="193048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669280" y="2157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Doing   </a:t>
            </a:r>
            <a:pPr indent="0" marL="0">
              <a:buNone/>
            </a:pPr>
            <a:r>
              <a:rPr lang="en-US" sz="1700" b="1" dirty="0">
                <a:solidFill>
                  <a:srgbClr val="E8A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 | do(X))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965192" y="2697480"/>
            <a:ext cx="3520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C0BE"/>
                </a:solidFill>
              </a:rPr>
              <a:t>Asks what a deliberate change causes.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C0BE"/>
                </a:solidFill>
              </a:rPr>
              <a:t>“If we give the drug, do they live longer?”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C0BE"/>
                </a:solidFill>
              </a:rPr>
              <a:t>Needed for any decision or policy.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C0BE"/>
                </a:solidFill>
              </a:rPr>
              <a:t>Requires causal assumptions to identify.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 always needs a causal answer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do(X)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60120" y="28529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we are evaluating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78308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66160" y="28529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the same 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78308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762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| seen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72200" y="28529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that happened to have 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take an action differ from everyone else in ways that also drive the outcome. Closing that gap — credibly — is the whole game.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16368" y="868680"/>
            <a:ext cx="694944" cy="0"/>
          </a:xfrm>
          <a:prstGeom prst="line">
            <a:avLst/>
          </a:prstGeom>
          <a:noFill/>
          <a:ln w="25400">
            <a:solidFill>
              <a:srgbClr val="0B6A6E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≠ causation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is a fact about a joint distribution. A causal claim is a fact about interventions. They are different objects.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35240" y="3886200"/>
            <a:ext cx="713232" cy="713232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0680" y="4071640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  ·  Week 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SLOGAN, SHARPENED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“correlation isn’t causation” is true — but not enough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slogan tells you what NOT to conclude. It gives no recipe for what you CAN conclude.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replaces the slogan with a procedure: state assumptions, check identifiability, estimate, stress-test.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Crucially, correlation plus the right assumptions CAN justify causation — that is the optimistic core of the field.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real question is never “is it causal?” but “what would have to be true for this to be causal, and is it?”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2240280" cy="2788920"/>
          </a:xfrm>
          <a:prstGeom prst="roundRect">
            <a:avLst>
              <a:gd name="adj" fmla="val 4082"/>
            </a:avLst>
          </a:prstGeom>
          <a:solidFill>
            <a:srgbClr val="0B6A6E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85292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ask whether data prove causation. Ask which assumptions license a causal reading — then defend them.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 AND Y CAN MOVE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engines of association without causation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9052" y="1810512"/>
            <a:ext cx="585216" cy="585216"/>
          </a:xfrm>
          <a:prstGeom prst="ellipse">
            <a:avLst/>
          </a:prstGeom>
          <a:solidFill>
            <a:srgbClr val="D7625F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208" y="1962668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causation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actually causes X.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→ death? Sick people go to hospitals.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73552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3964" y="1810512"/>
            <a:ext cx="585216" cy="585216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120" y="1962668"/>
            <a:ext cx="280904" cy="280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Confounding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56432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cause Z drives both X and Y.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56432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&amp; cancer, both driven by smoking.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98464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08876" y="1810512"/>
            <a:ext cx="585216" cy="585216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032" y="1962668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35624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/ collider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181344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 on a common effect creates a fake link.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81344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vs looks among hired actors.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CAUTIONARY CHART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series can correlate at r ≈ 0.99 by coincidence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645920"/>
            <a:ext cx="2331720" cy="2743200"/>
          </a:xfrm>
          <a:prstGeom prst="roundRect">
            <a:avLst>
              <a:gd name="adj" fmla="val 3922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92240" y="187452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86" y="20171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224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92240" y="28803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enough series, near-perfect correlations appear everywhere. Tight fit is not evidence of a mechanism. We need structure, not just R².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causation: the arrow points the other 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reading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2377440"/>
            <a:ext cx="731520" cy="731520"/>
          </a:xfrm>
          <a:prstGeom prst="ellipse">
            <a:avLst/>
          </a:prstGeom>
          <a:solidFill>
            <a:srgbClr val="5B6B82"/>
          </a:solidFill>
          <a:ln w="12700">
            <a:solidFill>
              <a:srgbClr val="5B6B82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08960" y="2377440"/>
            <a:ext cx="731520" cy="731520"/>
          </a:xfrm>
          <a:prstGeom prst="ellipse">
            <a:avLst/>
          </a:prstGeom>
          <a:solidFill>
            <a:srgbClr val="5B6B82"/>
          </a:solidFill>
          <a:ln w="12700">
            <a:solidFill>
              <a:srgbClr val="5B6B82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01368" y="2743200"/>
            <a:ext cx="1289304" cy="0"/>
          </a:xfrm>
          <a:prstGeom prst="line">
            <a:avLst/>
          </a:prstGeom>
          <a:noFill/>
          <a:ln w="38100">
            <a:solidFill>
              <a:srgbClr val="D7625F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3152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causes Y”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Hospitalization “causes” death?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26280" y="1691640"/>
            <a:ext cx="4069080" cy="2651760"/>
          </a:xfrm>
          <a:prstGeom prst="roundRect">
            <a:avLst>
              <a:gd name="adj" fmla="val 3448"/>
            </a:avLst>
          </a:prstGeom>
          <a:solidFill>
            <a:srgbClr val="EAF2F2"/>
          </a:solidFill>
          <a:ln w="12700">
            <a:solidFill>
              <a:srgbClr val="5BC0B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reading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377440"/>
            <a:ext cx="731520" cy="731520"/>
          </a:xfrm>
          <a:prstGeom prst="ellipse">
            <a:avLst/>
          </a:prstGeom>
          <a:solidFill>
            <a:srgbClr val="0E8388"/>
          </a:solidFill>
          <a:ln w="12700">
            <a:solidFill>
              <a:srgbClr val="0E8388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0" y="2377440"/>
            <a:ext cx="731520" cy="731520"/>
          </a:xfrm>
          <a:prstGeom prst="ellipse">
            <a:avLst/>
          </a:prstGeom>
          <a:solidFill>
            <a:srgbClr val="0E8388"/>
          </a:solidFill>
          <a:ln w="12700">
            <a:solidFill>
              <a:srgbClr val="0E8388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96912" y="2743200"/>
            <a:ext cx="-1426464" cy="0"/>
          </a:xfrm>
          <a:prstGeom prst="line">
            <a:avLst/>
          </a:prstGeom>
          <a:noFill/>
          <a:ln w="38100">
            <a:solidFill>
              <a:srgbClr val="0B6A6E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70916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B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 causes X”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7490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very ill → admission (and → death).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3 — A 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bias: conditioning can manufacture a correlation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talent and good looks are independent in the population.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Hollywood hires people who are talented OR good-looking (a common effect of both).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those hired, the two traits now appear negatively correlated — purely from selection.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causal links them; we created the association by conditioning on a collider (Week 4).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Moral: “controlling for” a variable is not always safe — sometimes it opens a fake path.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2240280" cy="2788920"/>
          </a:xfrm>
          <a:prstGeom prst="roundRect">
            <a:avLst>
              <a:gd name="adj" fmla="val 4082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Collider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85292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caused by two others. Conditioning on it (or its descendant) links its causes spuriously.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16368" y="868680"/>
            <a:ext cx="694944" cy="0"/>
          </a:xfrm>
          <a:prstGeom prst="line">
            <a:avLst/>
          </a:prstGeom>
          <a:noFill/>
          <a:ln w="25400">
            <a:solidFill>
              <a:srgbClr val="0B6A6E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Confounding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common-cause problem: the central obstacle to causal inference from observational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35240" y="3886200"/>
            <a:ext cx="713232" cy="713232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0680" y="4071640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  ·  Week 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confounder is a common cause of treatment and outcome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is a confounder of X → Y if Z causes X and Z (independently) causes Y.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induces association between X and Y that is not due to X’s effect on Y.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Graphically it is a “fork”: X ← Z → Y, opening a back-door path between X and Y.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 measure and adjust for Z, we can (often) recover the causal effect.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Z is unmeasured, observational adjustment alone cannot save us — we need a design or an instrument.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2240280" cy="2788920"/>
          </a:xfrm>
          <a:prstGeom prst="roundRect">
            <a:avLst>
              <a:gd name="adj" fmla="val 4082"/>
            </a:avLst>
          </a:prstGeom>
          <a:solidFill>
            <a:srgbClr val="0B6A6E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85292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← Z → Y. The back-door path we must block to read X → Y cleanly.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anatomy of confounding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737360" y="3017520"/>
            <a:ext cx="868680" cy="868680"/>
          </a:xfrm>
          <a:prstGeom prst="ellipse">
            <a:avLst/>
          </a:prstGeom>
          <a:solidFill>
            <a:srgbClr val="0E8388"/>
          </a:solidFill>
          <a:ln w="12700">
            <a:solidFill>
              <a:srgbClr val="0E8388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35040" y="3017520"/>
            <a:ext cx="868680" cy="868680"/>
          </a:xfrm>
          <a:prstGeom prst="ellipse">
            <a:avLst/>
          </a:prstGeom>
          <a:solidFill>
            <a:srgbClr val="0E8388"/>
          </a:solidFill>
          <a:ln w="12700">
            <a:solidFill>
              <a:srgbClr val="0E8388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0" y="1280160"/>
            <a:ext cx="868680" cy="868680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606040" y="3456432"/>
            <a:ext cx="3383280" cy="0"/>
          </a:xfrm>
          <a:prstGeom prst="line">
            <a:avLst/>
          </a:prstGeom>
          <a:noFill/>
          <a:ln w="41275">
            <a:solidFill>
              <a:srgbClr val="5BC0B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11880" y="1783080"/>
            <a:ext cx="-1280160" cy="960120"/>
          </a:xfrm>
          <a:prstGeom prst="line">
            <a:avLst/>
          </a:prstGeom>
          <a:noFill/>
          <a:ln w="3810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60520" y="1783080"/>
            <a:ext cx="1737360" cy="960120"/>
          </a:xfrm>
          <a:prstGeom prst="line">
            <a:avLst/>
          </a:prstGeom>
          <a:noFill/>
          <a:ln w="3810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37744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 (what we want)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confounding: a common cause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24365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2245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Back-door path: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← Z → Y transmits association that is not the effect of X. Block it (adjust for Z) to identify X → Y.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 cream sales “predict” drownings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93776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556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weather</a:t>
            </a:r>
            <a:pPr indent="0" marL="0"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raises both ice-cream sales and swimming (and so drownings). Neither causes the other.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3310128"/>
            <a:ext cx="822960" cy="822960"/>
          </a:xfrm>
          <a:prstGeom prst="ellipse">
            <a:avLst/>
          </a:prstGeom>
          <a:solidFill>
            <a:srgbClr val="5B6B82"/>
          </a:solidFill>
          <a:ln w="12700">
            <a:solidFill>
              <a:srgbClr val="5B6B82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60520" y="3310128"/>
            <a:ext cx="822960" cy="822960"/>
          </a:xfrm>
          <a:prstGeom prst="ellipse">
            <a:avLst/>
          </a:prstGeom>
          <a:solidFill>
            <a:srgbClr val="5B6B82"/>
          </a:solidFill>
          <a:ln w="12700">
            <a:solidFill>
              <a:srgbClr val="5B6B82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Drown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2487168"/>
            <a:ext cx="822960" cy="822960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3200400"/>
            <a:ext cx="-1143000" cy="201168"/>
          </a:xfrm>
          <a:prstGeom prst="line">
            <a:avLst/>
          </a:prstGeom>
          <a:noFill/>
          <a:ln w="34925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3200400"/>
            <a:ext cx="1143000" cy="201168"/>
          </a:xfrm>
          <a:prstGeom prst="line">
            <a:avLst/>
          </a:prstGeom>
          <a:noFill/>
          <a:ln w="34925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783080" y="3721608"/>
            <a:ext cx="2331720" cy="0"/>
          </a:xfrm>
          <a:prstGeom prst="line">
            <a:avLst/>
          </a:prstGeom>
          <a:noFill/>
          <a:ln w="31750">
            <a:solidFill>
              <a:srgbClr val="D7625F"/>
            </a:solidFill>
            <a:prstDash val="dash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103120" y="37673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7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15000" y="1645920"/>
            <a:ext cx="2880360" cy="2788920"/>
          </a:xfrm>
          <a:prstGeom prst="roundRect">
            <a:avLst>
              <a:gd name="adj" fmla="val 3279"/>
            </a:avLst>
          </a:prstGeom>
          <a:solidFill>
            <a:srgbClr val="EAF2F2"/>
          </a:solidFill>
          <a:ln w="12700">
            <a:solidFill>
              <a:srgbClr val="5BC0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8105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97880" y="22402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on temperature.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narrow heat band, ice cream and drownings are unrelated.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= comparing like with like.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Coffee, smoking, and lung cancer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studies found coffee drinkers had higher lung-cancer rates.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coffee drinkers were also far more likely to smoke.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is a common cause: it raises coffee consumption (habit clustering) and causes lung cancer.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for smoking shrinks the coffee–cancer association toward null.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 confounder you forget to measure can fully explain an apparent effect.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2240280" cy="2788920"/>
          </a:xfrm>
          <a:prstGeom prst="roundRect">
            <a:avLst>
              <a:gd name="adj" fmla="val 4082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D7625F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Unmeasured = danger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85292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smoking had not been recorded, no amount of clever statistics on this dataset could fix the bias.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WARNING WE WILL EARN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“Just control for everything” is wrong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73936"/>
            <a:ext cx="566928" cy="566928"/>
          </a:xfrm>
          <a:prstGeom prst="ellipse">
            <a:avLst/>
          </a:prstGeom>
          <a:solidFill>
            <a:srgbClr val="5BC0BE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92133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 for confounders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0756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causes of X and Y — blocks back-door bias.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33472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807208"/>
            <a:ext cx="566928" cy="566928"/>
          </a:xfrm>
          <a:prstGeom prst="ellipse">
            <a:avLst/>
          </a:prstGeom>
          <a:solidFill>
            <a:srgbClr val="D7625F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1" y="295460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523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adjust for colliders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54480" y="3108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effects — conditioning opens a fake path.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666744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840480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398788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856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adjust for mediators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54480" y="41422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on the X → Y path — you’d remove the effect itself.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16368" y="868680"/>
            <a:ext cx="694944" cy="0"/>
          </a:xfrm>
          <a:prstGeom prst="line">
            <a:avLst/>
          </a:prstGeom>
          <a:noFill/>
          <a:ln w="25400">
            <a:solidFill>
              <a:srgbClr val="0B6A6E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Simpson’s paradox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effect reverses sign after you split the data — and the data alone cannot tell you which answer is right.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35240" y="3886200"/>
            <a:ext cx="713232" cy="713232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0680" y="4071640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  ·  Week 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effect that flips when you condition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treatment looks better overall, yet worse within every subgroup — or vice versa.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statistical error; the numbers are all correct.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arises when the subgroup variable is related to both treatment assignment and outcome (a confounder).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resolution is not mathematical — it is causal. Which grouping reflects the real mechanism?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2240280" cy="2788920"/>
          </a:xfrm>
          <a:prstGeom prst="roundRect">
            <a:avLst>
              <a:gd name="adj" fmla="val 4082"/>
            </a:avLst>
          </a:prstGeom>
          <a:solidFill>
            <a:srgbClr val="0B6A6E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85292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table supports opposite conclusions. Only a causal model picks the right one.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· KIDNEY-STONE TREATMENTS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rates: the reversal in numbers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577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 A (open)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 B (keyhole)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stones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6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  (81/87)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  (234/270)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stones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6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  (192/263)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  (55/80)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combined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76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  (273/350)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6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  (289/350)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600200"/>
            <a:ext cx="2240280" cy="2834640"/>
          </a:xfrm>
          <a:prstGeom prst="roundRect">
            <a:avLst>
              <a:gd name="adj" fmla="val 4082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0" y="1828800"/>
            <a:ext cx="530352" cy="530352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1572" y="1966692"/>
            <a:ext cx="254569" cy="2545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0" y="2395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twice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583680" y="2816352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wins in both rows, yet B wins overall. Doctors gave A to the harder (large-stone) cases — severity confounds the totals.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REVERSAL, VISUALIZED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groups vs combined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645920"/>
            <a:ext cx="2331720" cy="2743200"/>
          </a:xfrm>
          <a:prstGeom prst="roundRect">
            <a:avLst>
              <a:gd name="adj" fmla="val 3922"/>
            </a:avLst>
          </a:prstGeom>
          <a:solidFill>
            <a:srgbClr val="EAF2F2"/>
          </a:solidFill>
          <a:ln w="12700">
            <a:solidFill>
              <a:srgbClr val="5BC0B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46520" y="18105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notice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46520" y="224028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(A) tops amber (B) in both subgroups.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(B) wins only in the combined bar.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mix of cases, not the treatment, drives the flip.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answer is correct? The DAG decides.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86200" cy="2788920"/>
          </a:xfrm>
          <a:prstGeom prst="roundRect">
            <a:avLst>
              <a:gd name="adj" fmla="val 3279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13232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→ treatment (confounder)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640080" cy="640080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3611880"/>
            <a:ext cx="640080" cy="640080"/>
          </a:xfrm>
          <a:prstGeom prst="ellipse">
            <a:avLst/>
          </a:prstGeom>
          <a:solidFill>
            <a:srgbClr val="0E8388"/>
          </a:solidFill>
          <a:ln w="12700">
            <a:solidFill>
              <a:srgbClr val="0E8388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3108960"/>
            <a:ext cx="822960" cy="822960"/>
          </a:xfrm>
          <a:prstGeom prst="ellipse">
            <a:avLst/>
          </a:prstGeom>
          <a:solidFill>
            <a:srgbClr val="0E8388"/>
          </a:solidFill>
          <a:ln w="12700">
            <a:solidFill>
              <a:srgbClr val="0E8388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25880" y="3310128"/>
            <a:ext cx="0" cy="256032"/>
          </a:xfrm>
          <a:prstGeom prst="line">
            <a:avLst/>
          </a:prstGeom>
          <a:noFill/>
          <a:ln w="3175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54480" y="2926080"/>
            <a:ext cx="1609344" cy="384048"/>
          </a:xfrm>
          <a:prstGeom prst="line">
            <a:avLst/>
          </a:prstGeom>
          <a:noFill/>
          <a:ln w="3175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600200" y="3886200"/>
            <a:ext cx="1600200" cy="-210312"/>
          </a:xfrm>
          <a:prstGeom prst="line">
            <a:avLst/>
          </a:prstGeom>
          <a:noFill/>
          <a:ln w="31750">
            <a:solidFill>
              <a:srgbClr val="5BC0BE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13232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trust the SUBGROUPS (adjust).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3886200" cy="2788920"/>
          </a:xfrm>
          <a:prstGeom prst="roundRect">
            <a:avLst>
              <a:gd name="adj" fmla="val 3279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73752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→ blood pressure (mediator)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20640" y="3200400"/>
            <a:ext cx="640080" cy="640080"/>
          </a:xfrm>
          <a:prstGeom prst="ellipse">
            <a:avLst/>
          </a:prstGeom>
          <a:solidFill>
            <a:srgbClr val="0E8388"/>
          </a:solidFill>
          <a:ln w="12700">
            <a:solidFill>
              <a:srgbClr val="0E8388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200400"/>
            <a:ext cx="640080" cy="640080"/>
          </a:xfrm>
          <a:prstGeom prst="ellipse">
            <a:avLst/>
          </a:prstGeom>
          <a:solidFill>
            <a:srgbClr val="D7625F"/>
          </a:solidFill>
          <a:ln w="12700">
            <a:solidFill>
              <a:srgbClr val="D7625F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8120" y="3200400"/>
            <a:ext cx="640080" cy="640080"/>
          </a:xfrm>
          <a:prstGeom prst="ellipse">
            <a:avLst/>
          </a:prstGeom>
          <a:solidFill>
            <a:srgbClr val="0E8388"/>
          </a:solidFill>
          <a:ln w="12700">
            <a:solidFill>
              <a:srgbClr val="0E8388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79008" y="3520440"/>
            <a:ext cx="694944" cy="0"/>
          </a:xfrm>
          <a:prstGeom prst="line">
            <a:avLst/>
          </a:prstGeom>
          <a:noFill/>
          <a:ln w="31750">
            <a:solidFill>
              <a:srgbClr val="5BC0B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50608" y="3520440"/>
            <a:ext cx="649224" cy="0"/>
          </a:xfrm>
          <a:prstGeom prst="line">
            <a:avLst/>
          </a:prstGeom>
          <a:noFill/>
          <a:ln w="31750">
            <a:solidFill>
              <a:srgbClr val="5BC0B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873752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trust the COMBINED (don’t adjust).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table. Opposite advice. The causal story — not the statistics — chooses.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48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28016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causal claim in, no causal claim out.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98448" y="2880360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describe a distribution. To get an interventional answer you must add assumptions about the causal structure — from design, domain knowledge, or a credible graph. Statistics estimates; causal assumptions identify.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16368" y="868680"/>
            <a:ext cx="694944" cy="0"/>
          </a:xfrm>
          <a:prstGeom prst="line">
            <a:avLst/>
          </a:prstGeom>
          <a:noFill/>
          <a:ln w="25400">
            <a:solidFill>
              <a:srgbClr val="0B6A6E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ladder of causation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Pearl’s three rungs: seeing, doing, imagining. Each rung needs tools the rung below cannot provide.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35240" y="3886200"/>
            <a:ext cx="713232" cy="713232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0680" y="4071640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  ·  Week 1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rungs of causal reasoning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72768"/>
            <a:ext cx="603504" cy="603504"/>
          </a:xfrm>
          <a:prstGeom prst="ellipse">
            <a:avLst/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08760" y="14447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Counterfactuals   </a:t>
            </a:r>
            <a:pPr indent="0" marL="0">
              <a:buNone/>
            </a:pPr>
            <a:r>
              <a:rPr lang="en-US" sz="1300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(Imagining)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08760" y="18745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What if I had acted differently?    </a:t>
            </a:r>
            <a:pPr indent="0" marL="0">
              <a:buNone/>
            </a:pPr>
            <a:r>
              <a:rPr lang="en-US" sz="1150" b="1" dirty="0">
                <a:solidFill>
                  <a:srgbClr val="E8A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P(Yₓ | X=x′, Y=y′)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217920" cy="1097280"/>
          </a:xfrm>
          <a:prstGeom prst="roundRect">
            <a:avLst>
              <a:gd name="adj" fmla="val 8333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852928"/>
            <a:ext cx="603504" cy="603504"/>
          </a:xfrm>
          <a:prstGeom prst="ellipse">
            <a:avLst/>
          </a:prstGeom>
          <a:solidFill>
            <a:srgbClr val="5BC0B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7249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   </a:t>
            </a:r>
            <a:pPr indent="0" marL="0">
              <a:buNone/>
            </a:pPr>
            <a:r>
              <a:rPr lang="en-US" sz="1300" i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(Doing)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31546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do X? What if we ban it?    </a:t>
            </a:r>
            <a:pPr indent="0" marL="0">
              <a:buNone/>
            </a:pPr>
            <a:r>
              <a:rPr lang="en-US" sz="1150" b="1" dirty="0">
                <a:solidFill>
                  <a:srgbClr val="E8A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 | do(X))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7498080" cy="1097280"/>
          </a:xfrm>
          <a:prstGeom prst="roundRect">
            <a:avLst>
              <a:gd name="adj" fmla="val 8333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4133088"/>
            <a:ext cx="603504" cy="603504"/>
          </a:xfrm>
          <a:prstGeom prst="ellipse">
            <a:avLst/>
          </a:prstGeom>
          <a:solidFill>
            <a:srgbClr val="5B6B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40050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   </a:t>
            </a:r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(Seeing)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434840"/>
            <a:ext cx="6355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related to what? (most ML lives here)    </a:t>
            </a:r>
            <a:pPr indent="0" marL="0">
              <a:buNone/>
            </a:pPr>
            <a:r>
              <a:rPr lang="en-US" sz="1150" b="1" dirty="0">
                <a:solidFill>
                  <a:srgbClr val="E8A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 | X)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520" y="4206240"/>
            <a:ext cx="0" cy="-2743200"/>
          </a:xfrm>
          <a:prstGeom prst="line">
            <a:avLst/>
          </a:prstGeom>
          <a:noFill/>
          <a:ln w="3810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275320" y="2468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1 · SEEING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 — P(Y | X)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observation: how does Y vary across values of X we happen to see?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correlation, regression, and essentially all of supervised machine learning.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for forecasting when the world keeps behaving as it did in training.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answer “what if we intervene?” — that requires a different operator.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2240280" cy="2788920"/>
          </a:xfrm>
          <a:prstGeom prst="roundRect">
            <a:avLst>
              <a:gd name="adj" fmla="val 4082"/>
            </a:avLst>
          </a:prstGeom>
          <a:solidFill>
            <a:srgbClr val="0B6A6E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5B6B82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85292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regression, classifiers, deep nets. All live on rung 1.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2 · DOING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 — P(Y | do(X))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of Y when we set X by external action, breaking its usual causes.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do(X = x) erases the arrows into X — we override how X is normally determined.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experiments physically realize do(X); that is why they are the gold standard.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this course = recovering P(Y | do(X)) from observational data plus assumptions.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2240280" cy="2788920"/>
          </a:xfrm>
          <a:prstGeom prst="roundRect">
            <a:avLst>
              <a:gd name="adj" fmla="val 4082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do-operator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85292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X by intervention, not by observation. Different from conditioning on X.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3 · IMAGINING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Counterfactuals — what would have happened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a specific unit in a world that did not occur: “had this patient not been treated…”.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the most structure — a full causal model, not just an intervention distribution.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Underlies attribution, blame, fairness, and personalized (individual) treatment effects.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potential-outcomes notation Y(1), Y(0) is built for exactly this — next week.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2240280" cy="2788920"/>
          </a:xfrm>
          <a:prstGeom prst="roundRect">
            <a:avLst>
              <a:gd name="adj" fmla="val 4082"/>
            </a:avLst>
          </a:prstGeom>
          <a:solidFill>
            <a:srgbClr val="0B6A6E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Hardest rung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85292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counterfactuals are never both observed — the fundamental problem of causal inference.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LADDER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climb with lower-rung tools alone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5336" y="2057400"/>
            <a:ext cx="566928" cy="566928"/>
          </a:xfrm>
          <a:prstGeom prst="ellipse">
            <a:avLst/>
          </a:prstGeom>
          <a:solidFill>
            <a:srgbClr val="5B6B82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737" y="22048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1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246120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P(Y|X) from any observational dataset.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35808" y="2651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8536" y="2057400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937" y="220480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assumptions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47872" y="3246120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or a credible causal graph.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779008" y="2651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126480" y="182880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15203A"/>
          </a:solidFill>
          <a:ln w="12700">
            <a:solidFill>
              <a:srgbClr val="15203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31736" y="2057400"/>
            <a:ext cx="566928" cy="566928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137" y="220480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Rung 2 answer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91072" y="3246120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identified interventional effect.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16368" y="868680"/>
            <a:ext cx="694944" cy="0"/>
          </a:xfrm>
          <a:prstGeom prst="line">
            <a:avLst/>
          </a:prstGeom>
          <a:noFill/>
          <a:ln w="25400">
            <a:solidFill>
              <a:srgbClr val="0B6A6E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languages of causality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 and causal graphs say the same things in different dialects. Fluent practitioners use both.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35240" y="3886200"/>
            <a:ext cx="713232" cy="713232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0680" y="4071640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  ·  Week 1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 · NEYMAN–RUBIN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outcomes: Y(1) and Y(0)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unit, imagine two outcomes: Y(1) if treated, Y(0) if not.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individual effect is Y(1) − Y(0); the average effect is ATE = E[Y(1) − Y(0)].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ever observe one of the two — the fundamental problem of causal inference.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asks: when does the observable difference equal the causal one?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2240280" cy="2788920"/>
          </a:xfrm>
          <a:prstGeom prst="roundRect">
            <a:avLst>
              <a:gd name="adj" fmla="val 4082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85292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= a missing-data problem. The counterfactual is the missing cell.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 · PEARL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graphs: nodes and arrows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3291840"/>
            <a:ext cx="777240" cy="777240"/>
          </a:xfrm>
          <a:prstGeom prst="ellipse">
            <a:avLst/>
          </a:prstGeom>
          <a:solidFill>
            <a:srgbClr val="0E8388"/>
          </a:solidFill>
          <a:ln w="12700">
            <a:solidFill>
              <a:srgbClr val="0E8388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0" y="3291840"/>
            <a:ext cx="777240" cy="777240"/>
          </a:xfrm>
          <a:prstGeom prst="ellipse">
            <a:avLst/>
          </a:prstGeom>
          <a:solidFill>
            <a:srgbClr val="0E8388"/>
          </a:solidFill>
          <a:ln w="12700">
            <a:solidFill>
              <a:srgbClr val="0E8388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423160" y="1965960"/>
            <a:ext cx="777240" cy="777240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993392" y="3675888"/>
            <a:ext cx="1645920" cy="0"/>
          </a:xfrm>
          <a:prstGeom prst="line">
            <a:avLst/>
          </a:prstGeom>
          <a:noFill/>
          <a:ln w="38100">
            <a:solidFill>
              <a:srgbClr val="0B6A6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31720" y="2468880"/>
            <a:ext cx="-868680" cy="502920"/>
          </a:xfrm>
          <a:prstGeom prst="line">
            <a:avLst/>
          </a:prstGeom>
          <a:noFill/>
          <a:ln w="34925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34640" y="2468880"/>
            <a:ext cx="868680" cy="502920"/>
          </a:xfrm>
          <a:prstGeom prst="line">
            <a:avLst/>
          </a:prstGeom>
          <a:noFill/>
          <a:ln w="34925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31520" y="4041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DAG encodes assumptions you can argue about.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= direct causes.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arrows = assumptions of no direct effect.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rules (d-separation) tell you what to adjust for.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testable, and arguable with collaborators.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LANGUAGES, ONE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teach both frameworks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 excel at defining estimands and analyzing experiments and weighting.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excel at choosing adjustment sets and spotting colliders, mediators, and bad controls.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back-door adjustment has an equivalent potential-outcomes (ignorability) statement.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fluidly between them is a hallmark of a strong applied causal analyst.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2240280" cy="2788920"/>
          </a:xfrm>
          <a:prstGeom prst="roundRect">
            <a:avLst>
              <a:gd name="adj" fmla="val 4082"/>
            </a:avLst>
          </a:prstGeom>
          <a:solidFill>
            <a:srgbClr val="0B6A6E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stance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85292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to decide what to adjust for; potential outcomes to define and estimate the effect.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YOU’LL USE ALL TERM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effects we estimate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965960" y="16093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Treatment Effect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96596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E[Y(1) − Y(0)]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if everyone were treated vs not.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89320" y="16093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…on the Treated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8932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E[Y(1) − Y(0) | X=1]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30428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among those who actually got treatment.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965960" y="31181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ATE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965960" y="3447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E[Y(1) − Y(0) | covariates]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38130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for a subgroup — the basis for personalization.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9718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89320" y="31181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ATE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989320" y="3447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 for “compliers”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38130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instrument identifies (Week 8).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JOBS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 ≠ estimation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8620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836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3957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causal quantity be written as a function of the data — under stated assumptions?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127248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A logic/assumptions question.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Answered with DAGs or ignorability.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No data needed — it’s about the model.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If it fails, more data won’t help.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600200"/>
            <a:ext cx="388620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810512"/>
            <a:ext cx="548640" cy="548640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195315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8836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23957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identification, how well can we compute it from a finite, noisy sample?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3127248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A statistics question.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Bias, variance, confidence intervals.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Regression, matching, ML, bootstrap.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More data tightens the estimate.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640080"/>
            <a:ext cx="457200" cy="457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16368" y="868680"/>
            <a:ext cx="694944" cy="0"/>
          </a:xfrm>
          <a:prstGeom prst="line">
            <a:avLst/>
          </a:prstGeom>
          <a:noFill/>
          <a:ln w="25400">
            <a:solidFill>
              <a:srgbClr val="0B6A6E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case + the workflow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famous job-training study to the five-step routine you will repeat all term.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35240" y="3886200"/>
            <a:ext cx="713232" cy="713232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0680" y="4071640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  ·  Week 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LALONDE (1986)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job training raise earnings?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00784"/>
            <a:ext cx="457200" cy="457200"/>
          </a:xfrm>
          <a:prstGeom prst="ellipse">
            <a:avLst/>
          </a:prstGeom>
          <a:solidFill>
            <a:srgbClr val="1520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566160" y="1627632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a job-training program on later earnings.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505456"/>
            <a:ext cx="457200" cy="457200"/>
          </a:xfrm>
          <a:prstGeom prst="ellipse">
            <a:avLst/>
          </a:prstGeom>
          <a:solidFill>
            <a:srgbClr val="D762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4505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 comparison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66160" y="2432304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Trainees vs a general survey sample → training looks harmful (they started poorer).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310128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2552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benchmark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66160" y="3236976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randomized arm gives the credible answer: a modest positive gain.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4114800"/>
            <a:ext cx="457200" cy="457200"/>
          </a:xfrm>
          <a:prstGeom prst="ellipse">
            <a:avLst/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05993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lesson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566160" y="404164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adjustment must reproduce the experiment — a benchmark we’ll revisit with matching, weighting &amp; DML.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causal analysis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 and the capstone follow these five steps.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481328" cy="2331720"/>
          </a:xfrm>
          <a:prstGeom prst="roundRect">
            <a:avLst>
              <a:gd name="adj" fmla="val 6173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93392"/>
            <a:ext cx="566928" cy="566928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241" y="214079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6974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Question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10896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estimand &amp; population.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048256" y="2926080"/>
            <a:ext cx="164592" cy="0"/>
          </a:xfrm>
          <a:prstGeom prst="line">
            <a:avLst/>
          </a:prstGeom>
          <a:noFill/>
          <a:ln w="3810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212848" y="1783080"/>
            <a:ext cx="1481328" cy="2331720"/>
          </a:xfrm>
          <a:prstGeom prst="roundRect">
            <a:avLst>
              <a:gd name="adj" fmla="val 6173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70048" y="1993392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449" y="214079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0" y="26974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Assume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304288" y="310896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DAG; list assumptions.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712464" y="2926080"/>
            <a:ext cx="164592" cy="0"/>
          </a:xfrm>
          <a:prstGeom prst="line">
            <a:avLst/>
          </a:prstGeom>
          <a:noFill/>
          <a:ln w="3810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877056" y="1783080"/>
            <a:ext cx="1481328" cy="2331720"/>
          </a:xfrm>
          <a:prstGeom prst="roundRect">
            <a:avLst>
              <a:gd name="adj" fmla="val 6173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34256" y="1993392"/>
            <a:ext cx="566928" cy="566928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657" y="214079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50208" y="26974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Identify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968496" y="310896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effect be recovered?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376672" y="2926080"/>
            <a:ext cx="164592" cy="0"/>
          </a:xfrm>
          <a:prstGeom prst="line">
            <a:avLst/>
          </a:prstGeom>
          <a:noFill/>
          <a:ln w="3810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541264" y="1783080"/>
            <a:ext cx="1481328" cy="2331720"/>
          </a:xfrm>
          <a:prstGeom prst="roundRect">
            <a:avLst>
              <a:gd name="adj" fmla="val 6173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98464" y="1993392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865" y="2140793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14416" y="26974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Estimate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632704" y="310896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Fit; report uncertainty.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040880" y="2926080"/>
            <a:ext cx="164592" cy="0"/>
          </a:xfrm>
          <a:prstGeom prst="line">
            <a:avLst/>
          </a:prstGeom>
          <a:noFill/>
          <a:ln w="38100">
            <a:solidFill>
              <a:srgbClr val="E8A13A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205472" y="1783080"/>
            <a:ext cx="1481328" cy="2331720"/>
          </a:xfrm>
          <a:prstGeom prst="roundRect">
            <a:avLst>
              <a:gd name="adj" fmla="val 6173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662672" y="1993392"/>
            <a:ext cx="566928" cy="566928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073" y="2140793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78624" y="26974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Validate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296912" y="310896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robustness checks.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864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feeds back into your assumptions — the loop is iterative, not linear.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you’ll set up this week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548640" cy="548640"/>
          </a:xfrm>
          <a:prstGeom prst="ellipse">
            <a:avLst/>
          </a:prstGeom>
          <a:solidFill>
            <a:srgbClr val="0E8388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94401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470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8096" y="24231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dagitty, ggdag — graphs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MatchIt, WeightIt, cobalt — adjustment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AER, fixest — IV &amp; panel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rdrobust, did, tidysynth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grf, DoubleML — modern ML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8728" y="1801368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74" y="194401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8470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57016" y="24231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DoWhy — end-to-end workflow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EconML, CausalML — effects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statsmodels, linearmodels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causal-learn — discovery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pandas, scikit-learn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7648" y="1801368"/>
            <a:ext cx="548640" cy="548640"/>
          </a:xfrm>
          <a:prstGeom prst="ellipse">
            <a:avLst/>
          </a:prstGeom>
          <a:solidFill>
            <a:srgbClr val="5B6B82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294" y="194401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8470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345936" y="24231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Git + GitHub for everything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Quarto / Jupyter notebooks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Set a random seed; log versions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4A"/>
                </a:solidFill>
              </a:rPr>
              <a:t>One-command rebuild of results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in Practice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1148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Foundations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5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&amp; key takeaways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983480" cy="3200400"/>
          </a:xfrm>
          <a:prstGeom prst="roundRect">
            <a:avLst>
              <a:gd name="adj" fmla="val 2857"/>
            </a:avLst>
          </a:prstGeom>
          <a:solidFill>
            <a:srgbClr val="24365C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9808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 these five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9808" y="1938528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 interventional, not predictive, answers.</a:t>
            </a:r>
            <a:endParaRPr lang="en-US" sz="120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arises without causation via reverse causation, confounding, and selection.</a:t>
            </a:r>
            <a:endParaRPr lang="en-US" sz="120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 is the central obstacle; Simpson’s paradox shows data alone can’t resolve it.</a:t>
            </a:r>
            <a:endParaRPr lang="en-US" sz="120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the ladder with data + assumptions; identify before you estimate.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 + DAGs are our two languages for the rest of the term.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0" y="1371600"/>
            <a:ext cx="2926080" cy="3200400"/>
          </a:xfrm>
          <a:prstGeom prst="roundRect">
            <a:avLst>
              <a:gd name="adj" fmla="val 3125"/>
            </a:avLst>
          </a:prstGeom>
          <a:solidFill>
            <a:srgbClr val="0B6A6E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7044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class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70448" y="1938528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Hernán &amp; Robins Ch. 1; Pearl &amp; Mackenzie ch. on the ladder.</a:t>
            </a:r>
            <a:endParaRPr lang="en-US" sz="115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0: set up R + Python, clone the repo, run hello-world.</a:t>
            </a:r>
            <a:endParaRPr lang="en-US" sz="115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1: spot the confounder / collider (5 short items).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capstone brief; start noticing causal questions around you.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→ The Potential Outcomes Framework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Foundations: The Causal Question</dc:title>
  <dc:subject>PptxGenJS Presentation</dc:subject>
  <dc:creator>Causal Inference in Practice</dc:creator>
  <cp:lastModifiedBy>Causal Inference in Practice</cp:lastModifiedBy>
  <cp:revision>1</cp:revision>
  <dcterms:created xsi:type="dcterms:W3CDTF">2026-06-20T11:07:12Z</dcterms:created>
  <dcterms:modified xsi:type="dcterms:W3CDTF">2026-06-20T11:07:12Z</dcterms:modified>
</cp:coreProperties>
</file>